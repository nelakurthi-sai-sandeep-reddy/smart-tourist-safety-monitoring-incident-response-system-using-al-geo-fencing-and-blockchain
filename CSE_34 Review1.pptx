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71" r:id="rId8"/>
    <p:sldId id="263" r:id="rId9"/>
    <p:sldId id="270" r:id="rId10"/>
    <p:sldId id="265" r:id="rId11"/>
    <p:sldId id="272" r:id="rId12"/>
    <p:sldId id="273" r:id="rId13"/>
    <p:sldId id="266" r:id="rId1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4660"/>
  </p:normalViewPr>
  <p:slideViewPr>
    <p:cSldViewPr>
      <p:cViewPr varScale="1">
        <p:scale>
          <a:sx n="78" d="100"/>
          <a:sy n="78" d="100"/>
        </p:scale>
        <p:origin x="1109"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E6CCD83-8C60-4DE8-A744-F015F81CA5E0}" type="datetimeFigureOut">
              <a:rPr lang="en-IN" smtClean="0"/>
              <a:t>29-01-2026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A434B7C-3B51-4682-AF6F-072DD4A4F266}" type="slidenum">
              <a:rPr lang="en-IN" smtClean="0"/>
              <a:t>‹#›</a:t>
            </a:fld>
            <a:endParaRPr lang="en-IN"/>
          </a:p>
        </p:txBody>
      </p:sp>
    </p:spTree>
    <p:extLst>
      <p:ext uri="{BB962C8B-B14F-4D97-AF65-F5344CB8AC3E}">
        <p14:creationId xmlns:p14="http://schemas.microsoft.com/office/powerpoint/2010/main" val="2128701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750" b="1" i="0">
                <a:solidFill>
                  <a:srgbClr val="17365D"/>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rgbClr val="17365D"/>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rgbClr val="17365D"/>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09625" y="885824"/>
            <a:ext cx="10668000" cy="57150"/>
          </a:xfrm>
          <a:custGeom>
            <a:avLst/>
            <a:gdLst/>
            <a:ahLst/>
            <a:cxnLst/>
            <a:rect l="l" t="t" r="r" b="b"/>
            <a:pathLst>
              <a:path w="10668000" h="57150">
                <a:moveTo>
                  <a:pt x="10668000" y="45720"/>
                </a:moveTo>
                <a:lnTo>
                  <a:pt x="0" y="45720"/>
                </a:lnTo>
                <a:lnTo>
                  <a:pt x="0" y="57150"/>
                </a:lnTo>
                <a:lnTo>
                  <a:pt x="10668000" y="57150"/>
                </a:lnTo>
                <a:lnTo>
                  <a:pt x="10668000" y="45720"/>
                </a:lnTo>
                <a:close/>
              </a:path>
              <a:path w="10668000" h="57150">
                <a:moveTo>
                  <a:pt x="10668000" y="0"/>
                </a:moveTo>
                <a:lnTo>
                  <a:pt x="0" y="0"/>
                </a:lnTo>
                <a:lnTo>
                  <a:pt x="0" y="34290"/>
                </a:lnTo>
                <a:lnTo>
                  <a:pt x="10668000" y="34290"/>
                </a:lnTo>
                <a:lnTo>
                  <a:pt x="10668000" y="0"/>
                </a:lnTo>
                <a:close/>
              </a:path>
            </a:pathLst>
          </a:custGeom>
          <a:solidFill>
            <a:srgbClr val="000000"/>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0" y="5991224"/>
            <a:ext cx="12191999" cy="866774"/>
          </a:xfrm>
          <a:prstGeom prst="rect">
            <a:avLst/>
          </a:prstGeom>
        </p:spPr>
      </p:pic>
      <p:pic>
        <p:nvPicPr>
          <p:cNvPr id="18" name="bg object 18"/>
          <p:cNvPicPr/>
          <p:nvPr/>
        </p:nvPicPr>
        <p:blipFill>
          <a:blip r:embed="rId3" cstate="print"/>
          <a:stretch>
            <a:fillRect/>
          </a:stretch>
        </p:blipFill>
        <p:spPr>
          <a:xfrm>
            <a:off x="904874" y="1162050"/>
            <a:ext cx="10668000" cy="5191125"/>
          </a:xfrm>
          <a:prstGeom prst="rect">
            <a:avLst/>
          </a:prstGeom>
        </p:spPr>
      </p:pic>
      <p:sp>
        <p:nvSpPr>
          <p:cNvPr id="2" name="Holder 2"/>
          <p:cNvSpPr>
            <a:spLocks noGrp="1"/>
          </p:cNvSpPr>
          <p:nvPr>
            <p:ph type="title"/>
          </p:nvPr>
        </p:nvSpPr>
        <p:spPr/>
        <p:txBody>
          <a:bodyPr lIns="0" tIns="0" rIns="0" bIns="0"/>
          <a:lstStyle>
            <a:lvl1pPr>
              <a:defRPr sz="2750" b="1" i="0">
                <a:solidFill>
                  <a:srgbClr val="17365D"/>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09625" y="885824"/>
            <a:ext cx="10668000" cy="57150"/>
          </a:xfrm>
          <a:custGeom>
            <a:avLst/>
            <a:gdLst/>
            <a:ahLst/>
            <a:cxnLst/>
            <a:rect l="l" t="t" r="r" b="b"/>
            <a:pathLst>
              <a:path w="10668000" h="57150">
                <a:moveTo>
                  <a:pt x="10668000" y="45720"/>
                </a:moveTo>
                <a:lnTo>
                  <a:pt x="0" y="45720"/>
                </a:lnTo>
                <a:lnTo>
                  <a:pt x="0" y="57150"/>
                </a:lnTo>
                <a:lnTo>
                  <a:pt x="10668000" y="57150"/>
                </a:lnTo>
                <a:lnTo>
                  <a:pt x="10668000" y="45720"/>
                </a:lnTo>
                <a:close/>
              </a:path>
              <a:path w="10668000" h="57150">
                <a:moveTo>
                  <a:pt x="10668000" y="0"/>
                </a:moveTo>
                <a:lnTo>
                  <a:pt x="0" y="0"/>
                </a:lnTo>
                <a:lnTo>
                  <a:pt x="0" y="34290"/>
                </a:lnTo>
                <a:lnTo>
                  <a:pt x="10668000" y="34290"/>
                </a:lnTo>
                <a:lnTo>
                  <a:pt x="10668000" y="0"/>
                </a:lnTo>
                <a:close/>
              </a:path>
            </a:pathLst>
          </a:custGeom>
          <a:solidFill>
            <a:srgbClr val="000000"/>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0" y="5991224"/>
            <a:ext cx="12191999" cy="866774"/>
          </a:xfrm>
          <a:prstGeom prst="rect">
            <a:avLst/>
          </a:prstGeom>
        </p:spPr>
      </p:pic>
      <p:sp>
        <p:nvSpPr>
          <p:cNvPr id="2" name="Holder 2"/>
          <p:cNvSpPr>
            <a:spLocks noGrp="1"/>
          </p:cNvSpPr>
          <p:nvPr>
            <p:ph type="title"/>
          </p:nvPr>
        </p:nvSpPr>
        <p:spPr>
          <a:xfrm>
            <a:off x="892175" y="69786"/>
            <a:ext cx="7870190" cy="744600"/>
          </a:xfrm>
          <a:prstGeom prst="rect">
            <a:avLst/>
          </a:prstGeom>
        </p:spPr>
        <p:txBody>
          <a:bodyPr wrap="square" lIns="0" tIns="0" rIns="0" bIns="0">
            <a:spAutoFit/>
          </a:bodyPr>
          <a:lstStyle>
            <a:lvl1pPr>
              <a:defRPr sz="2750" b="1" i="0">
                <a:solidFill>
                  <a:srgbClr val="17365D"/>
                </a:solidFill>
                <a:latin typeface="Cambria"/>
                <a:cs typeface="Cambria"/>
              </a:defRPr>
            </a:lvl1pPr>
          </a:lstStyle>
          <a:p>
            <a:endParaRPr/>
          </a:p>
        </p:txBody>
      </p:sp>
      <p:sp>
        <p:nvSpPr>
          <p:cNvPr id="3" name="Holder 3"/>
          <p:cNvSpPr>
            <a:spLocks noGrp="1"/>
          </p:cNvSpPr>
          <p:nvPr>
            <p:ph type="body" idx="1"/>
          </p:nvPr>
        </p:nvSpPr>
        <p:spPr>
          <a:xfrm>
            <a:off x="1044892" y="1167764"/>
            <a:ext cx="10363835" cy="3481070"/>
          </a:xfrm>
          <a:prstGeom prst="rect">
            <a:avLst/>
          </a:prstGeom>
        </p:spPr>
        <p:txBody>
          <a:bodyPr wrap="square" lIns="0" tIns="0" rIns="0" bIns="0">
            <a:spAutoFit/>
          </a:bodyPr>
          <a:lstStyle>
            <a:lvl1pPr>
              <a:defRPr sz="2400" b="0" i="0">
                <a:solidFill>
                  <a:schemeClr val="tx1"/>
                </a:solidFill>
                <a:latin typeface="Verdana"/>
                <a:cs typeface="Verdan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Nelakurthi-Sai-Sandeep-reddy/Smart-Tourist-Safety-Monitoring-Incident-Response-System-using-Al-Geo-Fencing-and-Blockchai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826452" y="2775457"/>
          <a:ext cx="4352925" cy="267970"/>
        </p:xfrm>
        <a:graphic>
          <a:graphicData uri="http://schemas.openxmlformats.org/drawingml/2006/table">
            <a:tbl>
              <a:tblPr firstRow="1" bandRow="1">
                <a:tableStyleId>{2D5ABB26-0587-4C30-8999-92F81FD0307C}</a:tableStyleId>
              </a:tblPr>
              <a:tblGrid>
                <a:gridCol w="2073910">
                  <a:extLst>
                    <a:ext uri="{9D8B030D-6E8A-4147-A177-3AD203B41FA5}">
                      <a16:colId xmlns:a16="http://schemas.microsoft.com/office/drawing/2014/main" val="20000"/>
                    </a:ext>
                  </a:extLst>
                </a:gridCol>
                <a:gridCol w="2279015">
                  <a:extLst>
                    <a:ext uri="{9D8B030D-6E8A-4147-A177-3AD203B41FA5}">
                      <a16:colId xmlns:a16="http://schemas.microsoft.com/office/drawing/2014/main" val="20001"/>
                    </a:ext>
                  </a:extLst>
                </a:gridCol>
              </a:tblGrid>
              <a:tr h="267970">
                <a:tc>
                  <a:txBody>
                    <a:bodyPr/>
                    <a:lstStyle/>
                    <a:p>
                      <a:pPr marL="31750">
                        <a:lnSpc>
                          <a:spcPts val="2010"/>
                        </a:lnSpc>
                      </a:pPr>
                      <a:r>
                        <a:rPr sz="1800" b="1" spc="105" dirty="0">
                          <a:solidFill>
                            <a:srgbClr val="17365D"/>
                          </a:solidFill>
                          <a:latin typeface="Cambria"/>
                          <a:cs typeface="Cambria"/>
                        </a:rPr>
                        <a:t>Roll</a:t>
                      </a:r>
                      <a:r>
                        <a:rPr sz="1800" b="1" spc="210" dirty="0">
                          <a:solidFill>
                            <a:srgbClr val="17365D"/>
                          </a:solidFill>
                          <a:latin typeface="Cambria"/>
                          <a:cs typeface="Cambria"/>
                        </a:rPr>
                        <a:t> </a:t>
                      </a:r>
                      <a:r>
                        <a:rPr sz="1800" b="1" spc="70" dirty="0">
                          <a:solidFill>
                            <a:srgbClr val="17365D"/>
                          </a:solidFill>
                          <a:latin typeface="Cambria"/>
                          <a:cs typeface="Cambria"/>
                        </a:rPr>
                        <a:t>Number</a:t>
                      </a:r>
                      <a:endParaRPr sz="1800">
                        <a:latin typeface="Cambria"/>
                        <a:cs typeface="Cambria"/>
                      </a:endParaRPr>
                    </a:p>
                  </a:txBody>
                  <a:tcPr marL="0" marR="0" marT="0" marB="0"/>
                </a:tc>
                <a:tc>
                  <a:txBody>
                    <a:bodyPr/>
                    <a:lstStyle/>
                    <a:p>
                      <a:pPr marL="562610">
                        <a:lnSpc>
                          <a:spcPts val="2010"/>
                        </a:lnSpc>
                      </a:pPr>
                      <a:r>
                        <a:rPr sz="1800" b="1" spc="130" dirty="0">
                          <a:solidFill>
                            <a:srgbClr val="17365D"/>
                          </a:solidFill>
                          <a:latin typeface="Cambria"/>
                          <a:cs typeface="Cambria"/>
                        </a:rPr>
                        <a:t>Student</a:t>
                      </a:r>
                      <a:r>
                        <a:rPr sz="1800" b="1" spc="305" dirty="0">
                          <a:solidFill>
                            <a:srgbClr val="17365D"/>
                          </a:solidFill>
                          <a:latin typeface="Cambria"/>
                          <a:cs typeface="Cambria"/>
                        </a:rPr>
                        <a:t> </a:t>
                      </a:r>
                      <a:r>
                        <a:rPr sz="1800" b="1" spc="70" dirty="0">
                          <a:solidFill>
                            <a:srgbClr val="17365D"/>
                          </a:solidFill>
                          <a:latin typeface="Cambria"/>
                          <a:cs typeface="Cambria"/>
                        </a:rPr>
                        <a:t>Name</a:t>
                      </a:r>
                      <a:endParaRPr sz="1800">
                        <a:latin typeface="Cambria"/>
                        <a:cs typeface="Cambria"/>
                      </a:endParaRPr>
                    </a:p>
                  </a:txBody>
                  <a:tcPr marL="0" marR="0" marT="0" marB="0"/>
                </a:tc>
                <a:extLst>
                  <a:ext uri="{0D108BD9-81ED-4DB2-BD59-A6C34878D82A}">
                    <a16:rowId xmlns:a16="http://schemas.microsoft.com/office/drawing/2014/main" val="10000"/>
                  </a:ext>
                </a:extLst>
              </a:tr>
            </a:tbl>
          </a:graphicData>
        </a:graphic>
      </p:graphicFrame>
      <p:sp>
        <p:nvSpPr>
          <p:cNvPr id="3" name="object 3"/>
          <p:cNvSpPr txBox="1"/>
          <p:nvPr/>
        </p:nvSpPr>
        <p:spPr>
          <a:xfrm>
            <a:off x="78739" y="1164272"/>
            <a:ext cx="11734165" cy="4596002"/>
          </a:xfrm>
          <a:prstGeom prst="rect">
            <a:avLst/>
          </a:prstGeom>
        </p:spPr>
        <p:txBody>
          <a:bodyPr vert="horz" wrap="square" lIns="0" tIns="6350" rIns="0" bIns="0" rtlCol="0">
            <a:spAutoFit/>
          </a:bodyPr>
          <a:lstStyle/>
          <a:p>
            <a:pPr marL="5534660" marR="828675" indent="-4636770">
              <a:lnSpc>
                <a:spcPct val="101699"/>
              </a:lnSpc>
              <a:spcBef>
                <a:spcPts val="50"/>
              </a:spcBef>
            </a:pPr>
            <a:r>
              <a:rPr lang="en-US" sz="2400" b="1" dirty="0"/>
              <a:t>     Smart Tourist Safety Monitoring &amp; Incident Response System</a:t>
            </a:r>
          </a:p>
          <a:p>
            <a:pPr marL="5534660" marR="828675" indent="-4636770">
              <a:lnSpc>
                <a:spcPct val="101699"/>
              </a:lnSpc>
              <a:spcBef>
                <a:spcPts val="50"/>
              </a:spcBef>
            </a:pPr>
            <a:r>
              <a:rPr lang="en-US" sz="2400" b="1" dirty="0"/>
              <a:t>      using Al ,Geo-Fencing, and Blockchain-based Digital ID</a:t>
            </a:r>
          </a:p>
          <a:p>
            <a:pPr marL="5534660" marR="828675" indent="-4636770">
              <a:lnSpc>
                <a:spcPct val="101699"/>
              </a:lnSpc>
              <a:spcBef>
                <a:spcPts val="50"/>
              </a:spcBef>
            </a:pPr>
            <a:endParaRPr sz="2400" b="1" dirty="0">
              <a:latin typeface="Cambria"/>
              <a:cs typeface="Cambria"/>
            </a:endParaRPr>
          </a:p>
          <a:p>
            <a:pPr marL="803910">
              <a:lnSpc>
                <a:spcPct val="100000"/>
              </a:lnSpc>
            </a:pPr>
            <a:r>
              <a:rPr sz="1800" b="1" dirty="0">
                <a:solidFill>
                  <a:srgbClr val="17365D"/>
                </a:solidFill>
                <a:latin typeface="Cambria"/>
                <a:cs typeface="Cambria"/>
              </a:rPr>
              <a:t>Batch</a:t>
            </a:r>
            <a:r>
              <a:rPr sz="1800" b="1" spc="-65" dirty="0">
                <a:solidFill>
                  <a:srgbClr val="17365D"/>
                </a:solidFill>
                <a:latin typeface="Cambria"/>
                <a:cs typeface="Cambria"/>
              </a:rPr>
              <a:t> </a:t>
            </a:r>
            <a:r>
              <a:rPr sz="1800" b="1" spc="-10" dirty="0">
                <a:solidFill>
                  <a:srgbClr val="17365D"/>
                </a:solidFill>
                <a:latin typeface="Cambria"/>
                <a:cs typeface="Cambria"/>
              </a:rPr>
              <a:t>Number:</a:t>
            </a:r>
            <a:r>
              <a:rPr lang="en-IN" sz="1800" b="1" spc="-10" dirty="0">
                <a:solidFill>
                  <a:srgbClr val="17365D"/>
                </a:solidFill>
                <a:latin typeface="Cambria"/>
                <a:cs typeface="Cambria"/>
              </a:rPr>
              <a:t> </a:t>
            </a:r>
            <a:r>
              <a:rPr sz="1800" b="1" spc="-10" dirty="0">
                <a:solidFill>
                  <a:srgbClr val="17365D"/>
                </a:solidFill>
                <a:latin typeface="Cambria"/>
                <a:cs typeface="Cambria"/>
              </a:rPr>
              <a:t>CSE_</a:t>
            </a:r>
            <a:r>
              <a:rPr lang="en-IN" b="1" spc="-10" dirty="0">
                <a:solidFill>
                  <a:srgbClr val="17365D"/>
                </a:solidFill>
                <a:latin typeface="Cambria"/>
                <a:cs typeface="Cambria"/>
              </a:rPr>
              <a:t>34</a:t>
            </a:r>
            <a:endParaRPr sz="1800" dirty="0">
              <a:latin typeface="Cambria"/>
              <a:cs typeface="Cambria"/>
            </a:endParaRPr>
          </a:p>
          <a:p>
            <a:pPr marL="7835265">
              <a:lnSpc>
                <a:spcPct val="100000"/>
              </a:lnSpc>
              <a:spcBef>
                <a:spcPts val="35"/>
              </a:spcBef>
            </a:pPr>
            <a:r>
              <a:rPr sz="1800" b="1" dirty="0">
                <a:solidFill>
                  <a:srgbClr val="17365D"/>
                </a:solidFill>
                <a:latin typeface="Cambria"/>
                <a:cs typeface="Cambria"/>
              </a:rPr>
              <a:t>Under</a:t>
            </a:r>
            <a:r>
              <a:rPr sz="1800" b="1" spc="-65" dirty="0">
                <a:solidFill>
                  <a:srgbClr val="17365D"/>
                </a:solidFill>
                <a:latin typeface="Cambria"/>
                <a:cs typeface="Cambria"/>
              </a:rPr>
              <a:t> </a:t>
            </a:r>
            <a:r>
              <a:rPr sz="1800" b="1" dirty="0">
                <a:solidFill>
                  <a:srgbClr val="17365D"/>
                </a:solidFill>
                <a:latin typeface="Cambria"/>
                <a:cs typeface="Cambria"/>
              </a:rPr>
              <a:t>the</a:t>
            </a:r>
            <a:r>
              <a:rPr sz="1800" b="1" spc="-35" dirty="0">
                <a:solidFill>
                  <a:srgbClr val="17365D"/>
                </a:solidFill>
                <a:latin typeface="Cambria"/>
                <a:cs typeface="Cambria"/>
              </a:rPr>
              <a:t> </a:t>
            </a:r>
            <a:r>
              <a:rPr sz="1800" b="1" dirty="0">
                <a:solidFill>
                  <a:srgbClr val="17365D"/>
                </a:solidFill>
                <a:latin typeface="Cambria"/>
                <a:cs typeface="Cambria"/>
              </a:rPr>
              <a:t>Supervision</a:t>
            </a:r>
            <a:r>
              <a:rPr sz="1800" b="1" spc="-20" dirty="0">
                <a:solidFill>
                  <a:srgbClr val="17365D"/>
                </a:solidFill>
                <a:latin typeface="Cambria"/>
                <a:cs typeface="Cambria"/>
              </a:rPr>
              <a:t> </a:t>
            </a:r>
            <a:r>
              <a:rPr sz="1800" b="1" spc="-25" dirty="0">
                <a:solidFill>
                  <a:srgbClr val="17365D"/>
                </a:solidFill>
                <a:latin typeface="Cambria"/>
                <a:cs typeface="Cambria"/>
              </a:rPr>
              <a:t>of,</a:t>
            </a:r>
            <a:endParaRPr sz="1800" dirty="0">
              <a:latin typeface="Cambria"/>
              <a:cs typeface="Cambria"/>
            </a:endParaRPr>
          </a:p>
          <a:p>
            <a:pPr>
              <a:lnSpc>
                <a:spcPct val="100000"/>
              </a:lnSpc>
              <a:spcBef>
                <a:spcPts val="1010"/>
              </a:spcBef>
            </a:pPr>
            <a:endParaRPr sz="1800" dirty="0">
              <a:latin typeface="Cambria"/>
              <a:cs typeface="Cambria"/>
            </a:endParaRPr>
          </a:p>
          <a:p>
            <a:pPr marL="6497955">
              <a:lnSpc>
                <a:spcPct val="100000"/>
              </a:lnSpc>
            </a:pPr>
            <a:r>
              <a:rPr sz="1600" b="1" dirty="0">
                <a:solidFill>
                  <a:srgbClr val="001F5F"/>
                </a:solidFill>
                <a:latin typeface="Cambria" panose="02040503050406030204" pitchFamily="18" charset="0"/>
                <a:ea typeface="Cambria" panose="02040503050406030204" pitchFamily="18" charset="0"/>
                <a:cs typeface="Arial"/>
              </a:rPr>
              <a:t>Ms.</a:t>
            </a:r>
            <a:r>
              <a:rPr sz="1600" b="1" spc="-25" dirty="0">
                <a:solidFill>
                  <a:srgbClr val="001F5F"/>
                </a:solidFill>
                <a:latin typeface="Cambria" panose="02040503050406030204" pitchFamily="18" charset="0"/>
                <a:ea typeface="Cambria" panose="02040503050406030204" pitchFamily="18" charset="0"/>
                <a:cs typeface="Arial"/>
              </a:rPr>
              <a:t> </a:t>
            </a:r>
            <a:r>
              <a:rPr sz="1600" b="1" dirty="0">
                <a:solidFill>
                  <a:srgbClr val="001F5F"/>
                </a:solidFill>
                <a:latin typeface="Cambria" panose="02040503050406030204" pitchFamily="18" charset="0"/>
                <a:ea typeface="Cambria" panose="02040503050406030204" pitchFamily="18" charset="0"/>
                <a:cs typeface="Arial"/>
              </a:rPr>
              <a:t>Saiqa</a:t>
            </a:r>
            <a:r>
              <a:rPr sz="1600" b="1" spc="-55" dirty="0">
                <a:solidFill>
                  <a:srgbClr val="001F5F"/>
                </a:solidFill>
                <a:latin typeface="Cambria" panose="02040503050406030204" pitchFamily="18" charset="0"/>
                <a:ea typeface="Cambria" panose="02040503050406030204" pitchFamily="18" charset="0"/>
                <a:cs typeface="Arial"/>
              </a:rPr>
              <a:t> </a:t>
            </a:r>
            <a:r>
              <a:rPr sz="1600" b="1" dirty="0">
                <a:solidFill>
                  <a:srgbClr val="001F5F"/>
                </a:solidFill>
                <a:latin typeface="Cambria" panose="02040503050406030204" pitchFamily="18" charset="0"/>
                <a:ea typeface="Cambria" panose="02040503050406030204" pitchFamily="18" charset="0"/>
                <a:cs typeface="Arial"/>
              </a:rPr>
              <a:t>Khan</a:t>
            </a:r>
            <a:r>
              <a:rPr sz="1600" b="1" spc="25" dirty="0">
                <a:solidFill>
                  <a:srgbClr val="001F5F"/>
                </a:solidFill>
                <a:latin typeface="Cambria" panose="02040503050406030204" pitchFamily="18" charset="0"/>
                <a:ea typeface="Cambria" panose="02040503050406030204" pitchFamily="18" charset="0"/>
                <a:cs typeface="Arial"/>
              </a:rPr>
              <a:t> </a:t>
            </a:r>
            <a:r>
              <a:rPr sz="1600" b="1" spc="-50" dirty="0">
                <a:solidFill>
                  <a:srgbClr val="001F5F"/>
                </a:solidFill>
                <a:latin typeface="Cambria" panose="02040503050406030204" pitchFamily="18" charset="0"/>
                <a:ea typeface="Cambria" panose="02040503050406030204" pitchFamily="18" charset="0"/>
                <a:cs typeface="Arial"/>
              </a:rPr>
              <a:t>N</a:t>
            </a:r>
            <a:endParaRPr sz="1600" dirty="0">
              <a:latin typeface="Cambria" panose="02040503050406030204" pitchFamily="18" charset="0"/>
              <a:ea typeface="Cambria" panose="02040503050406030204" pitchFamily="18" charset="0"/>
              <a:cs typeface="Arial"/>
            </a:endParaRPr>
          </a:p>
          <a:p>
            <a:pPr marL="6497955" marR="5080">
              <a:lnSpc>
                <a:spcPct val="114199"/>
              </a:lnSpc>
              <a:spcBef>
                <a:spcPts val="60"/>
              </a:spcBef>
            </a:pPr>
            <a:r>
              <a:rPr sz="1700" b="1" dirty="0">
                <a:solidFill>
                  <a:srgbClr val="17365D"/>
                </a:solidFill>
                <a:latin typeface="Cambria"/>
                <a:cs typeface="Cambria"/>
              </a:rPr>
              <a:t>Professor</a:t>
            </a:r>
            <a:r>
              <a:rPr sz="1700" b="1" spc="5" dirty="0">
                <a:solidFill>
                  <a:srgbClr val="17365D"/>
                </a:solidFill>
                <a:latin typeface="Cambria"/>
                <a:cs typeface="Cambria"/>
              </a:rPr>
              <a:t> </a:t>
            </a:r>
            <a:r>
              <a:rPr sz="1700" b="1" dirty="0">
                <a:solidFill>
                  <a:srgbClr val="17365D"/>
                </a:solidFill>
                <a:latin typeface="Cambria"/>
                <a:cs typeface="Cambria"/>
              </a:rPr>
              <a:t>/</a:t>
            </a:r>
            <a:r>
              <a:rPr sz="1700" b="1" spc="-70" dirty="0">
                <a:solidFill>
                  <a:srgbClr val="17365D"/>
                </a:solidFill>
                <a:latin typeface="Cambria"/>
                <a:cs typeface="Cambria"/>
              </a:rPr>
              <a:t> </a:t>
            </a:r>
            <a:r>
              <a:rPr sz="1700" b="1" dirty="0">
                <a:solidFill>
                  <a:srgbClr val="17365D"/>
                </a:solidFill>
                <a:latin typeface="Cambria"/>
                <a:cs typeface="Cambria"/>
              </a:rPr>
              <a:t>Associate</a:t>
            </a:r>
            <a:r>
              <a:rPr sz="1700" b="1" spc="-40" dirty="0">
                <a:solidFill>
                  <a:srgbClr val="17365D"/>
                </a:solidFill>
                <a:latin typeface="Cambria"/>
                <a:cs typeface="Cambria"/>
              </a:rPr>
              <a:t> </a:t>
            </a:r>
            <a:r>
              <a:rPr sz="1700" b="1" dirty="0">
                <a:solidFill>
                  <a:srgbClr val="17365D"/>
                </a:solidFill>
                <a:latin typeface="Cambria"/>
                <a:cs typeface="Cambria"/>
              </a:rPr>
              <a:t>Professor</a:t>
            </a:r>
            <a:r>
              <a:rPr sz="1700" b="1" spc="-65" dirty="0">
                <a:solidFill>
                  <a:srgbClr val="17365D"/>
                </a:solidFill>
                <a:latin typeface="Cambria"/>
                <a:cs typeface="Cambria"/>
              </a:rPr>
              <a:t> </a:t>
            </a:r>
            <a:r>
              <a:rPr sz="1700" b="1" dirty="0">
                <a:solidFill>
                  <a:srgbClr val="17365D"/>
                </a:solidFill>
                <a:latin typeface="Cambria"/>
                <a:cs typeface="Cambria"/>
              </a:rPr>
              <a:t>/</a:t>
            </a:r>
            <a:r>
              <a:rPr sz="1700" b="1" spc="5" dirty="0">
                <a:solidFill>
                  <a:srgbClr val="17365D"/>
                </a:solidFill>
                <a:latin typeface="Cambria"/>
                <a:cs typeface="Cambria"/>
              </a:rPr>
              <a:t> </a:t>
            </a:r>
            <a:r>
              <a:rPr sz="1700" b="1" dirty="0">
                <a:solidFill>
                  <a:srgbClr val="17365D"/>
                </a:solidFill>
                <a:latin typeface="Cambria"/>
                <a:cs typeface="Cambria"/>
              </a:rPr>
              <a:t>Assistant</a:t>
            </a:r>
            <a:r>
              <a:rPr sz="1700" b="1" spc="-55" dirty="0">
                <a:solidFill>
                  <a:srgbClr val="17365D"/>
                </a:solidFill>
                <a:latin typeface="Cambria"/>
                <a:cs typeface="Cambria"/>
              </a:rPr>
              <a:t> </a:t>
            </a:r>
            <a:r>
              <a:rPr sz="1700" b="1" spc="-10" dirty="0">
                <a:solidFill>
                  <a:srgbClr val="17365D"/>
                </a:solidFill>
                <a:latin typeface="Cambria"/>
                <a:cs typeface="Cambria"/>
              </a:rPr>
              <a:t>Professor </a:t>
            </a:r>
            <a:r>
              <a:rPr sz="1700" b="1" dirty="0">
                <a:solidFill>
                  <a:srgbClr val="17365D"/>
                </a:solidFill>
                <a:latin typeface="Cambria"/>
                <a:cs typeface="Cambria"/>
              </a:rPr>
              <a:t>School</a:t>
            </a:r>
            <a:r>
              <a:rPr sz="1700" b="1" spc="-50" dirty="0">
                <a:solidFill>
                  <a:srgbClr val="17365D"/>
                </a:solidFill>
                <a:latin typeface="Cambria"/>
                <a:cs typeface="Cambria"/>
              </a:rPr>
              <a:t> </a:t>
            </a:r>
            <a:r>
              <a:rPr sz="1700" b="1" dirty="0">
                <a:solidFill>
                  <a:srgbClr val="17365D"/>
                </a:solidFill>
                <a:latin typeface="Cambria"/>
                <a:cs typeface="Cambria"/>
              </a:rPr>
              <a:t>of Computer</a:t>
            </a:r>
            <a:r>
              <a:rPr sz="1700" b="1" spc="-5" dirty="0">
                <a:solidFill>
                  <a:srgbClr val="17365D"/>
                </a:solidFill>
                <a:latin typeface="Cambria"/>
                <a:cs typeface="Cambria"/>
              </a:rPr>
              <a:t> </a:t>
            </a:r>
            <a:r>
              <a:rPr sz="1700" b="1" spc="-10" dirty="0">
                <a:solidFill>
                  <a:srgbClr val="17365D"/>
                </a:solidFill>
                <a:latin typeface="Cambria"/>
                <a:cs typeface="Cambria"/>
              </a:rPr>
              <a:t>Science</a:t>
            </a:r>
            <a:r>
              <a:rPr sz="1700" b="1" spc="-45" dirty="0">
                <a:solidFill>
                  <a:srgbClr val="17365D"/>
                </a:solidFill>
                <a:latin typeface="Cambria"/>
                <a:cs typeface="Cambria"/>
              </a:rPr>
              <a:t> </a:t>
            </a:r>
            <a:r>
              <a:rPr sz="1700" b="1" dirty="0">
                <a:solidFill>
                  <a:srgbClr val="17365D"/>
                </a:solidFill>
                <a:latin typeface="Cambria"/>
                <a:cs typeface="Cambria"/>
              </a:rPr>
              <a:t>and</a:t>
            </a:r>
            <a:r>
              <a:rPr sz="1700" b="1" spc="-10" dirty="0">
                <a:solidFill>
                  <a:srgbClr val="17365D"/>
                </a:solidFill>
                <a:latin typeface="Cambria"/>
                <a:cs typeface="Cambria"/>
              </a:rPr>
              <a:t> Engineering </a:t>
            </a:r>
            <a:r>
              <a:rPr sz="1700" b="1" dirty="0">
                <a:solidFill>
                  <a:srgbClr val="17365D"/>
                </a:solidFill>
                <a:latin typeface="Cambria"/>
                <a:cs typeface="Cambria"/>
              </a:rPr>
              <a:t>Presidency</a:t>
            </a:r>
            <a:r>
              <a:rPr sz="1700" b="1" spc="-50" dirty="0">
                <a:solidFill>
                  <a:srgbClr val="17365D"/>
                </a:solidFill>
                <a:latin typeface="Cambria"/>
                <a:cs typeface="Cambria"/>
              </a:rPr>
              <a:t> </a:t>
            </a:r>
            <a:r>
              <a:rPr sz="1700" b="1" spc="-10" dirty="0">
                <a:solidFill>
                  <a:srgbClr val="17365D"/>
                </a:solidFill>
                <a:latin typeface="Cambria"/>
                <a:cs typeface="Cambria"/>
              </a:rPr>
              <a:t>University</a:t>
            </a:r>
            <a:endParaRPr sz="1700" dirty="0">
              <a:latin typeface="Cambria"/>
              <a:cs typeface="Cambria"/>
            </a:endParaRPr>
          </a:p>
          <a:p>
            <a:pPr marL="12700">
              <a:lnSpc>
                <a:spcPct val="100000"/>
              </a:lnSpc>
              <a:spcBef>
                <a:spcPts val="1920"/>
              </a:spcBef>
            </a:pPr>
            <a:r>
              <a:rPr sz="1800" b="1" dirty="0">
                <a:solidFill>
                  <a:srgbClr val="4F81BC"/>
                </a:solidFill>
                <a:latin typeface="Cambria"/>
                <a:cs typeface="Cambria"/>
              </a:rPr>
              <a:t>Name</a:t>
            </a:r>
            <a:r>
              <a:rPr sz="1800" b="1" spc="-30" dirty="0">
                <a:solidFill>
                  <a:srgbClr val="4F81BC"/>
                </a:solidFill>
                <a:latin typeface="Cambria"/>
                <a:cs typeface="Cambria"/>
              </a:rPr>
              <a:t> </a:t>
            </a:r>
            <a:r>
              <a:rPr sz="1800" b="1" dirty="0">
                <a:solidFill>
                  <a:srgbClr val="4F81BC"/>
                </a:solidFill>
                <a:latin typeface="Cambria"/>
                <a:cs typeface="Cambria"/>
              </a:rPr>
              <a:t>of</a:t>
            </a:r>
            <a:r>
              <a:rPr sz="1800" b="1" spc="-40" dirty="0">
                <a:solidFill>
                  <a:srgbClr val="4F81BC"/>
                </a:solidFill>
                <a:latin typeface="Cambria"/>
                <a:cs typeface="Cambria"/>
              </a:rPr>
              <a:t> </a:t>
            </a:r>
            <a:r>
              <a:rPr sz="1800" b="1" dirty="0">
                <a:solidFill>
                  <a:srgbClr val="4F81BC"/>
                </a:solidFill>
                <a:latin typeface="Cambria"/>
                <a:cs typeface="Cambria"/>
              </a:rPr>
              <a:t>the</a:t>
            </a:r>
            <a:r>
              <a:rPr sz="1800" b="1" spc="-25" dirty="0">
                <a:solidFill>
                  <a:srgbClr val="4F81BC"/>
                </a:solidFill>
                <a:latin typeface="Cambria"/>
                <a:cs typeface="Cambria"/>
              </a:rPr>
              <a:t> </a:t>
            </a:r>
            <a:r>
              <a:rPr sz="1800" b="1" dirty="0">
                <a:solidFill>
                  <a:srgbClr val="4F81BC"/>
                </a:solidFill>
                <a:latin typeface="Cambria"/>
                <a:cs typeface="Cambria"/>
              </a:rPr>
              <a:t>Program:</a:t>
            </a:r>
            <a:r>
              <a:rPr sz="1800" b="1" spc="-55" dirty="0">
                <a:solidFill>
                  <a:srgbClr val="4F81BC"/>
                </a:solidFill>
                <a:latin typeface="Cambria"/>
                <a:cs typeface="Cambria"/>
              </a:rPr>
              <a:t> </a:t>
            </a:r>
            <a:r>
              <a:rPr sz="1800" dirty="0">
                <a:solidFill>
                  <a:srgbClr val="FFC000"/>
                </a:solidFill>
                <a:latin typeface="Arial MT"/>
                <a:cs typeface="Arial MT"/>
              </a:rPr>
              <a:t>B.Tech(Computer</a:t>
            </a:r>
            <a:r>
              <a:rPr sz="1800" spc="-10" dirty="0">
                <a:solidFill>
                  <a:srgbClr val="FFC000"/>
                </a:solidFill>
                <a:latin typeface="Arial MT"/>
                <a:cs typeface="Arial MT"/>
              </a:rPr>
              <a:t> </a:t>
            </a:r>
            <a:r>
              <a:rPr sz="1800" dirty="0">
                <a:solidFill>
                  <a:srgbClr val="FFC000"/>
                </a:solidFill>
                <a:latin typeface="Arial MT"/>
                <a:cs typeface="Arial MT"/>
              </a:rPr>
              <a:t>Science</a:t>
            </a:r>
            <a:r>
              <a:rPr sz="1800" spc="-35" dirty="0">
                <a:solidFill>
                  <a:srgbClr val="FFC000"/>
                </a:solidFill>
                <a:latin typeface="Arial MT"/>
                <a:cs typeface="Arial MT"/>
              </a:rPr>
              <a:t> </a:t>
            </a:r>
            <a:r>
              <a:rPr sz="1800" dirty="0">
                <a:solidFill>
                  <a:srgbClr val="FFC000"/>
                </a:solidFill>
                <a:latin typeface="Arial MT"/>
                <a:cs typeface="Arial MT"/>
              </a:rPr>
              <a:t>And</a:t>
            </a:r>
            <a:r>
              <a:rPr sz="1800" spc="-35" dirty="0">
                <a:solidFill>
                  <a:srgbClr val="FFC000"/>
                </a:solidFill>
                <a:latin typeface="Arial MT"/>
                <a:cs typeface="Arial MT"/>
              </a:rPr>
              <a:t> </a:t>
            </a:r>
            <a:r>
              <a:rPr sz="1800" spc="-10" dirty="0">
                <a:solidFill>
                  <a:srgbClr val="FFC000"/>
                </a:solidFill>
                <a:latin typeface="Arial MT"/>
                <a:cs typeface="Arial MT"/>
              </a:rPr>
              <a:t>Engineering)</a:t>
            </a:r>
            <a:endParaRPr sz="1800" dirty="0">
              <a:latin typeface="Arial MT"/>
              <a:cs typeface="Arial MT"/>
            </a:endParaRPr>
          </a:p>
          <a:p>
            <a:pPr marL="12700">
              <a:lnSpc>
                <a:spcPct val="100000"/>
              </a:lnSpc>
              <a:spcBef>
                <a:spcPts val="20"/>
              </a:spcBef>
            </a:pPr>
            <a:r>
              <a:rPr sz="1800" b="1" dirty="0">
                <a:solidFill>
                  <a:srgbClr val="4F81BC"/>
                </a:solidFill>
                <a:latin typeface="Cambria"/>
                <a:cs typeface="Cambria"/>
              </a:rPr>
              <a:t>Name</a:t>
            </a:r>
            <a:r>
              <a:rPr sz="1800" b="1" spc="-10" dirty="0">
                <a:solidFill>
                  <a:srgbClr val="4F81BC"/>
                </a:solidFill>
                <a:latin typeface="Cambria"/>
                <a:cs typeface="Cambria"/>
              </a:rPr>
              <a:t> </a:t>
            </a:r>
            <a:r>
              <a:rPr sz="1800" b="1" dirty="0">
                <a:solidFill>
                  <a:srgbClr val="4F81BC"/>
                </a:solidFill>
                <a:latin typeface="Cambria"/>
                <a:cs typeface="Cambria"/>
              </a:rPr>
              <a:t>of</a:t>
            </a:r>
            <a:r>
              <a:rPr sz="1800" b="1" spc="-20" dirty="0">
                <a:solidFill>
                  <a:srgbClr val="4F81BC"/>
                </a:solidFill>
                <a:latin typeface="Cambria"/>
                <a:cs typeface="Cambria"/>
              </a:rPr>
              <a:t> </a:t>
            </a:r>
            <a:r>
              <a:rPr sz="1800" b="1" dirty="0">
                <a:solidFill>
                  <a:srgbClr val="4F81BC"/>
                </a:solidFill>
                <a:latin typeface="Cambria"/>
                <a:cs typeface="Cambria"/>
              </a:rPr>
              <a:t>the</a:t>
            </a:r>
            <a:r>
              <a:rPr sz="1800" b="1" spc="-35" dirty="0">
                <a:solidFill>
                  <a:srgbClr val="4F81BC"/>
                </a:solidFill>
                <a:latin typeface="Cambria"/>
                <a:cs typeface="Cambria"/>
              </a:rPr>
              <a:t> </a:t>
            </a:r>
            <a:r>
              <a:rPr sz="1800" b="1" dirty="0">
                <a:solidFill>
                  <a:srgbClr val="4F81BC"/>
                </a:solidFill>
                <a:latin typeface="Cambria"/>
                <a:cs typeface="Cambria"/>
              </a:rPr>
              <a:t>HoD:</a:t>
            </a:r>
            <a:r>
              <a:rPr sz="1800" b="1" spc="-5" dirty="0">
                <a:solidFill>
                  <a:srgbClr val="4F81BC"/>
                </a:solidFill>
                <a:latin typeface="Cambria"/>
                <a:cs typeface="Cambria"/>
              </a:rPr>
              <a:t> </a:t>
            </a:r>
            <a:r>
              <a:rPr sz="1800" b="1" dirty="0">
                <a:solidFill>
                  <a:srgbClr val="FF0000"/>
                </a:solidFill>
                <a:latin typeface="Arial"/>
                <a:cs typeface="Arial"/>
              </a:rPr>
              <a:t>Dr.</a:t>
            </a:r>
            <a:r>
              <a:rPr sz="1800" b="1" spc="-25" dirty="0">
                <a:solidFill>
                  <a:srgbClr val="FF0000"/>
                </a:solidFill>
                <a:latin typeface="Arial"/>
                <a:cs typeface="Arial"/>
              </a:rPr>
              <a:t> </a:t>
            </a:r>
            <a:r>
              <a:rPr sz="1800" b="1" dirty="0">
                <a:solidFill>
                  <a:srgbClr val="FF0000"/>
                </a:solidFill>
                <a:latin typeface="Arial"/>
                <a:cs typeface="Arial"/>
              </a:rPr>
              <a:t>Asif</a:t>
            </a:r>
            <a:r>
              <a:rPr sz="1800" b="1" spc="20" dirty="0">
                <a:solidFill>
                  <a:srgbClr val="FF0000"/>
                </a:solidFill>
                <a:latin typeface="Arial"/>
                <a:cs typeface="Arial"/>
              </a:rPr>
              <a:t> </a:t>
            </a:r>
            <a:r>
              <a:rPr sz="1800" b="1" spc="-10" dirty="0">
                <a:solidFill>
                  <a:srgbClr val="FF0000"/>
                </a:solidFill>
                <a:latin typeface="Arial"/>
                <a:cs typeface="Arial"/>
              </a:rPr>
              <a:t>Mohammed</a:t>
            </a:r>
            <a:endParaRPr sz="1800" dirty="0">
              <a:latin typeface="Arial"/>
              <a:cs typeface="Arial"/>
            </a:endParaRPr>
          </a:p>
          <a:p>
            <a:pPr marL="12700">
              <a:lnSpc>
                <a:spcPct val="100000"/>
              </a:lnSpc>
              <a:spcBef>
                <a:spcPts val="15"/>
              </a:spcBef>
            </a:pPr>
            <a:r>
              <a:rPr sz="1800" b="1" dirty="0">
                <a:solidFill>
                  <a:srgbClr val="4F81BC"/>
                </a:solidFill>
                <a:latin typeface="Cambria"/>
                <a:cs typeface="Cambria"/>
              </a:rPr>
              <a:t>Name</a:t>
            </a:r>
            <a:r>
              <a:rPr sz="1800" b="1" spc="-30" dirty="0">
                <a:solidFill>
                  <a:srgbClr val="4F81BC"/>
                </a:solidFill>
                <a:latin typeface="Cambria"/>
                <a:cs typeface="Cambria"/>
              </a:rPr>
              <a:t> </a:t>
            </a:r>
            <a:r>
              <a:rPr sz="1800" b="1" dirty="0">
                <a:solidFill>
                  <a:srgbClr val="4F81BC"/>
                </a:solidFill>
                <a:latin typeface="Cambria"/>
                <a:cs typeface="Cambria"/>
              </a:rPr>
              <a:t>of</a:t>
            </a:r>
            <a:r>
              <a:rPr sz="1800" b="1" spc="-35" dirty="0">
                <a:solidFill>
                  <a:srgbClr val="4F81BC"/>
                </a:solidFill>
                <a:latin typeface="Cambria"/>
                <a:cs typeface="Cambria"/>
              </a:rPr>
              <a:t> </a:t>
            </a:r>
            <a:r>
              <a:rPr sz="1800" b="1" dirty="0">
                <a:solidFill>
                  <a:srgbClr val="4F81BC"/>
                </a:solidFill>
                <a:latin typeface="Cambria"/>
                <a:cs typeface="Cambria"/>
              </a:rPr>
              <a:t>the</a:t>
            </a:r>
            <a:r>
              <a:rPr sz="1800" b="1" spc="-25" dirty="0">
                <a:solidFill>
                  <a:srgbClr val="4F81BC"/>
                </a:solidFill>
                <a:latin typeface="Cambria"/>
                <a:cs typeface="Cambria"/>
              </a:rPr>
              <a:t> </a:t>
            </a:r>
            <a:r>
              <a:rPr sz="1800" b="1" dirty="0">
                <a:solidFill>
                  <a:srgbClr val="4F81BC"/>
                </a:solidFill>
                <a:latin typeface="Cambria"/>
                <a:cs typeface="Cambria"/>
              </a:rPr>
              <a:t>Program</a:t>
            </a:r>
            <a:r>
              <a:rPr sz="1800" b="1" spc="5" dirty="0">
                <a:solidFill>
                  <a:srgbClr val="4F81BC"/>
                </a:solidFill>
                <a:latin typeface="Cambria"/>
                <a:cs typeface="Cambria"/>
              </a:rPr>
              <a:t> </a:t>
            </a:r>
            <a:r>
              <a:rPr sz="1800" b="1" dirty="0">
                <a:solidFill>
                  <a:srgbClr val="4F81BC"/>
                </a:solidFill>
                <a:latin typeface="Cambria"/>
                <a:cs typeface="Cambria"/>
              </a:rPr>
              <a:t>Project</a:t>
            </a:r>
            <a:r>
              <a:rPr sz="1800" b="1" spc="-30" dirty="0">
                <a:solidFill>
                  <a:srgbClr val="4F81BC"/>
                </a:solidFill>
                <a:latin typeface="Cambria"/>
                <a:cs typeface="Cambria"/>
              </a:rPr>
              <a:t> </a:t>
            </a:r>
            <a:r>
              <a:rPr sz="1800" b="1" dirty="0">
                <a:solidFill>
                  <a:srgbClr val="4F81BC"/>
                </a:solidFill>
                <a:latin typeface="Cambria"/>
                <a:cs typeface="Cambria"/>
              </a:rPr>
              <a:t>Coordinator:</a:t>
            </a:r>
            <a:r>
              <a:rPr sz="1800" b="1" spc="-45" dirty="0">
                <a:solidFill>
                  <a:srgbClr val="4F81BC"/>
                </a:solidFill>
                <a:latin typeface="Cambria"/>
                <a:cs typeface="Cambria"/>
              </a:rPr>
              <a:t> </a:t>
            </a:r>
            <a:r>
              <a:rPr sz="1800" b="1" dirty="0">
                <a:solidFill>
                  <a:srgbClr val="FF0000"/>
                </a:solidFill>
                <a:latin typeface="Arial"/>
                <a:cs typeface="Arial"/>
              </a:rPr>
              <a:t>Dr.</a:t>
            </a:r>
            <a:r>
              <a:rPr sz="1800" b="1" spc="-50" dirty="0">
                <a:solidFill>
                  <a:srgbClr val="FF0000"/>
                </a:solidFill>
                <a:latin typeface="Arial"/>
                <a:cs typeface="Arial"/>
              </a:rPr>
              <a:t> </a:t>
            </a:r>
            <a:r>
              <a:rPr sz="1800" b="1" dirty="0">
                <a:solidFill>
                  <a:srgbClr val="FF0000"/>
                </a:solidFill>
                <a:latin typeface="Arial"/>
                <a:cs typeface="Arial"/>
              </a:rPr>
              <a:t>Jayavadivel</a:t>
            </a:r>
            <a:r>
              <a:rPr sz="1800" b="1" spc="-25" dirty="0">
                <a:solidFill>
                  <a:srgbClr val="FF0000"/>
                </a:solidFill>
                <a:latin typeface="Arial"/>
                <a:cs typeface="Arial"/>
              </a:rPr>
              <a:t> </a:t>
            </a:r>
            <a:r>
              <a:rPr sz="1800" b="1" spc="-20" dirty="0">
                <a:solidFill>
                  <a:srgbClr val="FF0000"/>
                </a:solidFill>
                <a:latin typeface="Arial"/>
                <a:cs typeface="Arial"/>
              </a:rPr>
              <a:t>Ravi</a:t>
            </a:r>
            <a:endParaRPr sz="1800" dirty="0">
              <a:latin typeface="Arial"/>
              <a:cs typeface="Arial"/>
            </a:endParaRPr>
          </a:p>
          <a:p>
            <a:pPr marL="12700">
              <a:lnSpc>
                <a:spcPct val="100000"/>
              </a:lnSpc>
              <a:spcBef>
                <a:spcPts val="20"/>
              </a:spcBef>
            </a:pPr>
            <a:r>
              <a:rPr sz="1800" b="1" dirty="0">
                <a:solidFill>
                  <a:srgbClr val="4F81BC"/>
                </a:solidFill>
                <a:latin typeface="Cambria"/>
                <a:cs typeface="Cambria"/>
              </a:rPr>
              <a:t>Name</a:t>
            </a:r>
            <a:r>
              <a:rPr sz="1800" b="1" spc="-35" dirty="0">
                <a:solidFill>
                  <a:srgbClr val="4F81BC"/>
                </a:solidFill>
                <a:latin typeface="Cambria"/>
                <a:cs typeface="Cambria"/>
              </a:rPr>
              <a:t> </a:t>
            </a:r>
            <a:r>
              <a:rPr sz="1800" b="1" dirty="0">
                <a:solidFill>
                  <a:srgbClr val="4F81BC"/>
                </a:solidFill>
                <a:latin typeface="Cambria"/>
                <a:cs typeface="Cambria"/>
              </a:rPr>
              <a:t>of</a:t>
            </a:r>
            <a:r>
              <a:rPr sz="1800" b="1" spc="-30" dirty="0">
                <a:solidFill>
                  <a:srgbClr val="4F81BC"/>
                </a:solidFill>
                <a:latin typeface="Cambria"/>
                <a:cs typeface="Cambria"/>
              </a:rPr>
              <a:t> </a:t>
            </a:r>
            <a:r>
              <a:rPr sz="1800" b="1" dirty="0">
                <a:solidFill>
                  <a:srgbClr val="4F81BC"/>
                </a:solidFill>
                <a:latin typeface="Cambria"/>
                <a:cs typeface="Cambria"/>
              </a:rPr>
              <a:t>the</a:t>
            </a:r>
            <a:r>
              <a:rPr sz="1800" b="1" spc="-20" dirty="0">
                <a:solidFill>
                  <a:srgbClr val="4F81BC"/>
                </a:solidFill>
                <a:latin typeface="Cambria"/>
                <a:cs typeface="Cambria"/>
              </a:rPr>
              <a:t> </a:t>
            </a:r>
            <a:r>
              <a:rPr sz="1800" b="1" dirty="0">
                <a:solidFill>
                  <a:srgbClr val="4F81BC"/>
                </a:solidFill>
                <a:latin typeface="Cambria"/>
                <a:cs typeface="Cambria"/>
              </a:rPr>
              <a:t>School</a:t>
            </a:r>
            <a:r>
              <a:rPr sz="1800" b="1" spc="5" dirty="0">
                <a:solidFill>
                  <a:srgbClr val="4F81BC"/>
                </a:solidFill>
                <a:latin typeface="Cambria"/>
                <a:cs typeface="Cambria"/>
              </a:rPr>
              <a:t> </a:t>
            </a:r>
            <a:r>
              <a:rPr sz="1800" b="1" spc="-10" dirty="0">
                <a:solidFill>
                  <a:srgbClr val="4F81BC"/>
                </a:solidFill>
                <a:latin typeface="Cambria"/>
                <a:cs typeface="Cambria"/>
              </a:rPr>
              <a:t>Project</a:t>
            </a:r>
            <a:r>
              <a:rPr sz="1800" b="1" spc="-25" dirty="0">
                <a:solidFill>
                  <a:srgbClr val="4F81BC"/>
                </a:solidFill>
                <a:latin typeface="Cambria"/>
                <a:cs typeface="Cambria"/>
              </a:rPr>
              <a:t> </a:t>
            </a:r>
            <a:r>
              <a:rPr sz="1800" b="1" dirty="0">
                <a:solidFill>
                  <a:srgbClr val="4F81BC"/>
                </a:solidFill>
                <a:latin typeface="Cambria"/>
                <a:cs typeface="Cambria"/>
              </a:rPr>
              <a:t>Coordinators:</a:t>
            </a:r>
            <a:r>
              <a:rPr sz="1800" b="1" spc="10" dirty="0">
                <a:solidFill>
                  <a:srgbClr val="4F81BC"/>
                </a:solidFill>
                <a:latin typeface="Cambria"/>
                <a:cs typeface="Cambria"/>
              </a:rPr>
              <a:t> </a:t>
            </a:r>
            <a:r>
              <a:rPr sz="1800" b="1" dirty="0">
                <a:latin typeface="Cambria"/>
                <a:cs typeface="Cambria"/>
              </a:rPr>
              <a:t>Dr.</a:t>
            </a:r>
            <a:r>
              <a:rPr sz="1800" b="1" spc="-30" dirty="0">
                <a:latin typeface="Cambria"/>
                <a:cs typeface="Cambria"/>
              </a:rPr>
              <a:t> </a:t>
            </a:r>
            <a:r>
              <a:rPr sz="1800" b="1" dirty="0">
                <a:latin typeface="Cambria"/>
                <a:cs typeface="Cambria"/>
              </a:rPr>
              <a:t>Sampath</a:t>
            </a:r>
            <a:r>
              <a:rPr sz="1800" b="1" spc="-40" dirty="0">
                <a:latin typeface="Cambria"/>
                <a:cs typeface="Cambria"/>
              </a:rPr>
              <a:t> </a:t>
            </a:r>
            <a:r>
              <a:rPr sz="1800" b="1" dirty="0">
                <a:latin typeface="Cambria"/>
                <a:cs typeface="Cambria"/>
              </a:rPr>
              <a:t>A</a:t>
            </a:r>
            <a:r>
              <a:rPr sz="1800" b="1" spc="-15" dirty="0">
                <a:latin typeface="Cambria"/>
                <a:cs typeface="Cambria"/>
              </a:rPr>
              <a:t> </a:t>
            </a:r>
            <a:r>
              <a:rPr sz="1800" b="1" dirty="0">
                <a:latin typeface="Cambria"/>
                <a:cs typeface="Cambria"/>
              </a:rPr>
              <a:t>K ,</a:t>
            </a:r>
            <a:r>
              <a:rPr sz="1800" b="1" spc="-10" dirty="0">
                <a:latin typeface="Cambria"/>
                <a:cs typeface="Cambria"/>
              </a:rPr>
              <a:t> </a:t>
            </a:r>
            <a:r>
              <a:rPr sz="1800" b="1" dirty="0">
                <a:latin typeface="Cambria"/>
                <a:cs typeface="Cambria"/>
              </a:rPr>
              <a:t>Dr.</a:t>
            </a:r>
            <a:r>
              <a:rPr sz="1800" b="1" spc="10" dirty="0">
                <a:latin typeface="Cambria"/>
                <a:cs typeface="Cambria"/>
              </a:rPr>
              <a:t> </a:t>
            </a:r>
            <a:r>
              <a:rPr sz="1800" b="1" dirty="0">
                <a:latin typeface="Cambria"/>
                <a:cs typeface="Cambria"/>
              </a:rPr>
              <a:t>Geetha</a:t>
            </a:r>
            <a:r>
              <a:rPr sz="1800" b="1" spc="-5" dirty="0">
                <a:latin typeface="Cambria"/>
                <a:cs typeface="Cambria"/>
              </a:rPr>
              <a:t> </a:t>
            </a:r>
            <a:r>
              <a:rPr sz="1800" b="1" spc="-50" dirty="0">
                <a:latin typeface="Cambria"/>
                <a:cs typeface="Cambria"/>
              </a:rPr>
              <a:t>A</a:t>
            </a:r>
            <a:endParaRPr sz="1800" dirty="0">
              <a:latin typeface="Cambria"/>
              <a:cs typeface="Cambria"/>
            </a:endParaRPr>
          </a:p>
        </p:txBody>
      </p:sp>
      <p:sp>
        <p:nvSpPr>
          <p:cNvPr id="4" name="object 4"/>
          <p:cNvSpPr txBox="1">
            <a:spLocks noGrp="1"/>
          </p:cNvSpPr>
          <p:nvPr>
            <p:ph type="title"/>
          </p:nvPr>
        </p:nvSpPr>
        <p:spPr>
          <a:xfrm>
            <a:off x="4159250" y="119697"/>
            <a:ext cx="2853690" cy="622799"/>
          </a:xfrm>
          <a:prstGeom prst="rect">
            <a:avLst/>
          </a:prstGeom>
        </p:spPr>
        <p:txBody>
          <a:bodyPr vert="horz" wrap="square" lIns="0" tIns="12700" rIns="0" bIns="0" rtlCol="0">
            <a:spAutoFit/>
          </a:bodyPr>
          <a:lstStyle/>
          <a:p>
            <a:pPr marL="936625" marR="5080" indent="-923925">
              <a:lnSpc>
                <a:spcPct val="114799"/>
              </a:lnSpc>
              <a:spcBef>
                <a:spcPts val="100"/>
              </a:spcBef>
            </a:pPr>
            <a:r>
              <a:rPr sz="1800" spc="-45" dirty="0"/>
              <a:t> </a:t>
            </a:r>
            <a:r>
              <a:rPr lang="en-IN" sz="1800" spc="-45" dirty="0"/>
              <a:t>          </a:t>
            </a:r>
            <a:r>
              <a:rPr sz="1800" dirty="0"/>
              <a:t>Capstone</a:t>
            </a:r>
            <a:r>
              <a:rPr sz="1800" spc="-55" dirty="0"/>
              <a:t> </a:t>
            </a:r>
            <a:r>
              <a:rPr sz="1800" spc="-10" dirty="0"/>
              <a:t>Project </a:t>
            </a:r>
            <a:br>
              <a:rPr lang="en-IN" sz="1800" spc="-10" dirty="0"/>
            </a:br>
            <a:r>
              <a:rPr sz="1800" spc="-10" dirty="0"/>
              <a:t>Review-</a:t>
            </a:r>
            <a:r>
              <a:rPr sz="1800" spc="-50" dirty="0"/>
              <a:t>1</a:t>
            </a:r>
            <a:endParaRPr sz="1800" dirty="0"/>
          </a:p>
        </p:txBody>
      </p:sp>
      <p:graphicFrame>
        <p:nvGraphicFramePr>
          <p:cNvPr id="5" name="object 5"/>
          <p:cNvGraphicFramePr>
            <a:graphicFrameLocks noGrp="1"/>
          </p:cNvGraphicFramePr>
          <p:nvPr/>
        </p:nvGraphicFramePr>
        <p:xfrm>
          <a:off x="547001" y="3171317"/>
          <a:ext cx="5067300" cy="1108710"/>
        </p:xfrm>
        <a:graphic>
          <a:graphicData uri="http://schemas.openxmlformats.org/drawingml/2006/table">
            <a:tbl>
              <a:tblPr firstRow="1" bandRow="1">
                <a:tableStyleId>{2D5ABB26-0587-4C30-8999-92F81FD0307C}</a:tableStyleId>
              </a:tblPr>
              <a:tblGrid>
                <a:gridCol w="2533650">
                  <a:extLst>
                    <a:ext uri="{9D8B030D-6E8A-4147-A177-3AD203B41FA5}">
                      <a16:colId xmlns:a16="http://schemas.microsoft.com/office/drawing/2014/main" val="20000"/>
                    </a:ext>
                  </a:extLst>
                </a:gridCol>
                <a:gridCol w="2533650">
                  <a:extLst>
                    <a:ext uri="{9D8B030D-6E8A-4147-A177-3AD203B41FA5}">
                      <a16:colId xmlns:a16="http://schemas.microsoft.com/office/drawing/2014/main" val="20001"/>
                    </a:ext>
                  </a:extLst>
                </a:gridCol>
              </a:tblGrid>
              <a:tr h="369570">
                <a:tc>
                  <a:txBody>
                    <a:bodyPr/>
                    <a:lstStyle/>
                    <a:p>
                      <a:pPr marL="5080" algn="ctr">
                        <a:lnSpc>
                          <a:spcPct val="100000"/>
                        </a:lnSpc>
                        <a:spcBef>
                          <a:spcPts val="345"/>
                        </a:spcBef>
                      </a:pPr>
                      <a:r>
                        <a:rPr sz="1400" dirty="0">
                          <a:latin typeface="Arial MT"/>
                          <a:cs typeface="Arial MT"/>
                        </a:rPr>
                        <a:t>N</a:t>
                      </a:r>
                      <a:r>
                        <a:rPr sz="1400" spc="-20" dirty="0">
                          <a:latin typeface="Arial MT"/>
                          <a:cs typeface="Arial MT"/>
                        </a:rPr>
                        <a:t> </a:t>
                      </a:r>
                      <a:r>
                        <a:rPr sz="1400" dirty="0">
                          <a:latin typeface="Arial MT"/>
                          <a:cs typeface="Arial MT"/>
                        </a:rPr>
                        <a:t>SAI</a:t>
                      </a:r>
                      <a:r>
                        <a:rPr sz="1400" spc="-50" dirty="0">
                          <a:latin typeface="Arial MT"/>
                          <a:cs typeface="Arial MT"/>
                        </a:rPr>
                        <a:t> </a:t>
                      </a:r>
                      <a:r>
                        <a:rPr sz="1400" dirty="0">
                          <a:latin typeface="Arial MT"/>
                          <a:cs typeface="Arial MT"/>
                        </a:rPr>
                        <a:t>SANDEEP</a:t>
                      </a:r>
                      <a:r>
                        <a:rPr sz="1400" spc="-10" dirty="0">
                          <a:latin typeface="Arial MT"/>
                          <a:cs typeface="Arial MT"/>
                        </a:rPr>
                        <a:t> REDDY</a:t>
                      </a:r>
                      <a:endParaRPr sz="1400">
                        <a:latin typeface="Arial MT"/>
                        <a:cs typeface="Arial MT"/>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556260" algn="r">
                        <a:lnSpc>
                          <a:spcPct val="100000"/>
                        </a:lnSpc>
                        <a:spcBef>
                          <a:spcPts val="345"/>
                        </a:spcBef>
                      </a:pPr>
                      <a:r>
                        <a:rPr sz="1400" spc="-10" dirty="0">
                          <a:latin typeface="Arial MT"/>
                          <a:cs typeface="Arial MT"/>
                        </a:rPr>
                        <a:t>20221CSE0277</a:t>
                      </a:r>
                      <a:endParaRPr sz="1400">
                        <a:latin typeface="Arial MT"/>
                        <a:cs typeface="Arial MT"/>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9570">
                <a:tc>
                  <a:txBody>
                    <a:bodyPr/>
                    <a:lstStyle/>
                    <a:p>
                      <a:pPr marL="7620" algn="ctr">
                        <a:lnSpc>
                          <a:spcPct val="100000"/>
                        </a:lnSpc>
                        <a:spcBef>
                          <a:spcPts val="350"/>
                        </a:spcBef>
                      </a:pPr>
                      <a:r>
                        <a:rPr sz="1400" dirty="0">
                          <a:latin typeface="Arial MT"/>
                          <a:cs typeface="Arial MT"/>
                        </a:rPr>
                        <a:t>SOHAN</a:t>
                      </a:r>
                      <a:r>
                        <a:rPr sz="1400" spc="-10" dirty="0">
                          <a:latin typeface="Arial MT"/>
                          <a:cs typeface="Arial MT"/>
                        </a:rPr>
                        <a:t> </a:t>
                      </a:r>
                      <a:r>
                        <a:rPr sz="1400" spc="-60" dirty="0">
                          <a:latin typeface="Arial MT"/>
                          <a:cs typeface="Arial MT"/>
                        </a:rPr>
                        <a:t>K</a:t>
                      </a:r>
                      <a:endParaRPr sz="1400">
                        <a:latin typeface="Arial MT"/>
                        <a:cs typeface="Arial MT"/>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580390" algn="r">
                        <a:lnSpc>
                          <a:spcPct val="100000"/>
                        </a:lnSpc>
                        <a:spcBef>
                          <a:spcPts val="350"/>
                        </a:spcBef>
                      </a:pPr>
                      <a:r>
                        <a:rPr sz="1400" spc="-10" dirty="0">
                          <a:latin typeface="Arial MT"/>
                          <a:cs typeface="Arial MT"/>
                        </a:rPr>
                        <a:t>20221CSE0418</a:t>
                      </a:r>
                      <a:endParaRPr sz="1400">
                        <a:latin typeface="Arial MT"/>
                        <a:cs typeface="Arial MT"/>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9570">
                <a:tc>
                  <a:txBody>
                    <a:bodyPr/>
                    <a:lstStyle/>
                    <a:p>
                      <a:pPr marR="36830" algn="ctr">
                        <a:lnSpc>
                          <a:spcPct val="100000"/>
                        </a:lnSpc>
                        <a:spcBef>
                          <a:spcPts val="355"/>
                        </a:spcBef>
                      </a:pPr>
                      <a:r>
                        <a:rPr sz="1400" dirty="0">
                          <a:latin typeface="Arial MT"/>
                          <a:cs typeface="Arial MT"/>
                        </a:rPr>
                        <a:t>HARSHITH</a:t>
                      </a:r>
                      <a:r>
                        <a:rPr sz="1400" spc="-5" dirty="0">
                          <a:latin typeface="Arial MT"/>
                          <a:cs typeface="Arial MT"/>
                        </a:rPr>
                        <a:t> </a:t>
                      </a:r>
                      <a:r>
                        <a:rPr sz="1400" dirty="0">
                          <a:latin typeface="Arial MT"/>
                          <a:cs typeface="Arial MT"/>
                        </a:rPr>
                        <a:t>K</a:t>
                      </a:r>
                      <a:r>
                        <a:rPr sz="1400" spc="-55" dirty="0">
                          <a:latin typeface="Arial MT"/>
                          <a:cs typeface="Arial MT"/>
                        </a:rPr>
                        <a:t> </a:t>
                      </a:r>
                      <a:r>
                        <a:rPr sz="1400" spc="-50" dirty="0">
                          <a:latin typeface="Arial MT"/>
                          <a:cs typeface="Arial MT"/>
                        </a:rPr>
                        <a:t>R</a:t>
                      </a:r>
                      <a:endParaRPr sz="1400">
                        <a:latin typeface="Arial MT"/>
                        <a:cs typeface="Arial MT"/>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2620">
                        <a:lnSpc>
                          <a:spcPct val="100000"/>
                        </a:lnSpc>
                        <a:spcBef>
                          <a:spcPts val="355"/>
                        </a:spcBef>
                      </a:pPr>
                      <a:r>
                        <a:rPr sz="1400" spc="-10" dirty="0">
                          <a:latin typeface="Arial MT"/>
                          <a:cs typeface="Arial MT"/>
                        </a:rPr>
                        <a:t>20221CSE0203</a:t>
                      </a:r>
                      <a:endParaRPr sz="1400">
                        <a:latin typeface="Arial MT"/>
                        <a:cs typeface="Arial MT"/>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9616" rIns="0" bIns="0" rtlCol="0">
            <a:spAutoFit/>
          </a:bodyPr>
          <a:lstStyle/>
          <a:p>
            <a:pPr marL="12700">
              <a:lnSpc>
                <a:spcPct val="100000"/>
              </a:lnSpc>
              <a:spcBef>
                <a:spcPts val="125"/>
              </a:spcBef>
            </a:pPr>
            <a:r>
              <a:rPr dirty="0"/>
              <a:t>Problem</a:t>
            </a:r>
            <a:r>
              <a:rPr spc="110" dirty="0"/>
              <a:t> </a:t>
            </a:r>
            <a:r>
              <a:rPr dirty="0"/>
              <a:t>Statement</a:t>
            </a:r>
            <a:r>
              <a:rPr spc="135" dirty="0"/>
              <a:t> </a:t>
            </a:r>
            <a:r>
              <a:rPr spc="-10" dirty="0"/>
              <a:t>Number:</a:t>
            </a:r>
          </a:p>
        </p:txBody>
      </p:sp>
      <p:sp>
        <p:nvSpPr>
          <p:cNvPr id="3" name="object 3"/>
          <p:cNvSpPr txBox="1"/>
          <p:nvPr/>
        </p:nvSpPr>
        <p:spPr>
          <a:xfrm>
            <a:off x="968375" y="1177289"/>
            <a:ext cx="10385425" cy="5027979"/>
          </a:xfrm>
          <a:prstGeom prst="rect">
            <a:avLst/>
          </a:prstGeom>
        </p:spPr>
        <p:txBody>
          <a:bodyPr vert="horz" wrap="square" lIns="0" tIns="16510" rIns="0" bIns="0" rtlCol="0">
            <a:spAutoFit/>
          </a:bodyPr>
          <a:lstStyle/>
          <a:p>
            <a:pPr marL="88900">
              <a:lnSpc>
                <a:spcPct val="100000"/>
              </a:lnSpc>
              <a:spcBef>
                <a:spcPts val="130"/>
              </a:spcBef>
            </a:pPr>
            <a:r>
              <a:rPr sz="2150" b="1" dirty="0">
                <a:latin typeface="Cambria"/>
                <a:cs typeface="Cambria"/>
              </a:rPr>
              <a:t>Organization</a:t>
            </a:r>
            <a:r>
              <a:rPr sz="2150" dirty="0">
                <a:latin typeface="Cambria"/>
                <a:cs typeface="Cambria"/>
              </a:rPr>
              <a:t>:</a:t>
            </a:r>
            <a:r>
              <a:rPr lang="en-IN" sz="2150" dirty="0">
                <a:latin typeface="Cambria"/>
                <a:cs typeface="Cambria"/>
              </a:rPr>
              <a:t>PRESIDENCY UNIVERSITY</a:t>
            </a:r>
          </a:p>
          <a:p>
            <a:pPr marL="88900">
              <a:lnSpc>
                <a:spcPct val="100000"/>
              </a:lnSpc>
              <a:spcBef>
                <a:spcPts val="130"/>
              </a:spcBef>
            </a:pPr>
            <a:endParaRPr lang="en-IN" sz="2150" spc="-10" dirty="0">
              <a:latin typeface="Cambria"/>
              <a:cs typeface="Cambria"/>
            </a:endParaRPr>
          </a:p>
          <a:p>
            <a:pPr marL="88900">
              <a:lnSpc>
                <a:spcPct val="100000"/>
              </a:lnSpc>
              <a:spcBef>
                <a:spcPts val="130"/>
              </a:spcBef>
            </a:pPr>
            <a:r>
              <a:rPr sz="2150" b="1" dirty="0">
                <a:latin typeface="Cambria"/>
                <a:cs typeface="Cambria"/>
              </a:rPr>
              <a:t>Category</a:t>
            </a:r>
            <a:r>
              <a:rPr sz="2150" b="1" spc="130" dirty="0">
                <a:latin typeface="Cambria"/>
                <a:cs typeface="Cambria"/>
              </a:rPr>
              <a:t> </a:t>
            </a:r>
            <a:r>
              <a:rPr sz="2150" b="1" dirty="0">
                <a:latin typeface="Cambria"/>
                <a:cs typeface="Cambria"/>
              </a:rPr>
              <a:t>(Hardware</a:t>
            </a:r>
            <a:r>
              <a:rPr sz="2150" b="1" spc="60" dirty="0">
                <a:latin typeface="Cambria"/>
                <a:cs typeface="Cambria"/>
              </a:rPr>
              <a:t> </a:t>
            </a:r>
            <a:r>
              <a:rPr sz="2150" b="1" dirty="0">
                <a:latin typeface="Cambria"/>
                <a:cs typeface="Cambria"/>
              </a:rPr>
              <a:t>/</a:t>
            </a:r>
            <a:r>
              <a:rPr sz="2150" b="1" spc="105" dirty="0">
                <a:latin typeface="Cambria"/>
                <a:cs typeface="Cambria"/>
              </a:rPr>
              <a:t> </a:t>
            </a:r>
            <a:r>
              <a:rPr sz="2150" b="1" dirty="0">
                <a:latin typeface="Cambria"/>
                <a:cs typeface="Cambria"/>
              </a:rPr>
              <a:t>Software</a:t>
            </a:r>
            <a:r>
              <a:rPr sz="2150" b="1" spc="75" dirty="0">
                <a:latin typeface="Cambria"/>
                <a:cs typeface="Cambria"/>
              </a:rPr>
              <a:t> </a:t>
            </a:r>
            <a:r>
              <a:rPr sz="2150" b="1" dirty="0">
                <a:latin typeface="Cambria"/>
                <a:cs typeface="Cambria"/>
              </a:rPr>
              <a:t>/</a:t>
            </a:r>
            <a:r>
              <a:rPr sz="2150" b="1" spc="105" dirty="0">
                <a:latin typeface="Cambria"/>
                <a:cs typeface="Cambria"/>
              </a:rPr>
              <a:t> </a:t>
            </a:r>
            <a:r>
              <a:rPr sz="2150" b="1" dirty="0">
                <a:latin typeface="Cambria"/>
                <a:cs typeface="Cambria"/>
              </a:rPr>
              <a:t>Both)</a:t>
            </a:r>
            <a:r>
              <a:rPr sz="2150" b="1" spc="110" dirty="0">
                <a:latin typeface="Cambria"/>
                <a:cs typeface="Cambria"/>
              </a:rPr>
              <a:t> </a:t>
            </a:r>
            <a:r>
              <a:rPr sz="2150" b="1" dirty="0">
                <a:latin typeface="Cambria"/>
                <a:cs typeface="Cambria"/>
              </a:rPr>
              <a:t>:</a:t>
            </a:r>
            <a:r>
              <a:rPr sz="2150" b="1" spc="95" dirty="0">
                <a:latin typeface="Cambria"/>
                <a:cs typeface="Cambria"/>
              </a:rPr>
              <a:t> </a:t>
            </a:r>
            <a:r>
              <a:rPr sz="2150" spc="-10" dirty="0">
                <a:latin typeface="Cambria"/>
                <a:cs typeface="Cambria"/>
              </a:rPr>
              <a:t>Software</a:t>
            </a:r>
            <a:endParaRPr sz="2150" dirty="0">
              <a:latin typeface="Cambria"/>
              <a:cs typeface="Cambria"/>
            </a:endParaRPr>
          </a:p>
          <a:p>
            <a:pPr marL="12065" marR="83820">
              <a:lnSpc>
                <a:spcPct val="103200"/>
              </a:lnSpc>
              <a:spcBef>
                <a:spcPts val="1320"/>
              </a:spcBef>
              <a:buSzPct val="111627"/>
              <a:tabLst>
                <a:tab pos="393700" algn="l"/>
              </a:tabLst>
            </a:pPr>
            <a:r>
              <a:rPr lang="en-IN" sz="2150" b="1" dirty="0">
                <a:latin typeface="Cambria"/>
                <a:cs typeface="Cambria"/>
              </a:rPr>
              <a:t>  </a:t>
            </a:r>
            <a:r>
              <a:rPr sz="2150" b="1" dirty="0">
                <a:latin typeface="Cambria"/>
                <a:cs typeface="Cambria"/>
              </a:rPr>
              <a:t>Problem</a:t>
            </a:r>
            <a:r>
              <a:rPr sz="2150" b="1" spc="135" dirty="0">
                <a:latin typeface="Cambria"/>
                <a:cs typeface="Cambria"/>
              </a:rPr>
              <a:t> </a:t>
            </a:r>
            <a:r>
              <a:rPr sz="2150" b="1" dirty="0">
                <a:latin typeface="Cambria"/>
                <a:cs typeface="Cambria"/>
              </a:rPr>
              <a:t>Description</a:t>
            </a:r>
            <a:r>
              <a:rPr sz="1850" b="1" dirty="0">
                <a:latin typeface="Cambria"/>
                <a:cs typeface="Cambria"/>
              </a:rPr>
              <a:t>:</a:t>
            </a:r>
            <a:endParaRPr lang="en-IN" sz="1850" b="1" dirty="0">
              <a:latin typeface="Cambria"/>
              <a:cs typeface="Cambria"/>
            </a:endParaRPr>
          </a:p>
          <a:p>
            <a:pPr marL="354965" marR="83820" lvl="1" indent="-342900">
              <a:spcBef>
                <a:spcPts val="1320"/>
              </a:spcBef>
              <a:buSzPct val="111627"/>
              <a:buFont typeface="Arial" panose="020B0604020202020204" pitchFamily="34" charset="0"/>
              <a:buChar char="•"/>
              <a:tabLst>
                <a:tab pos="393700" algn="l"/>
              </a:tabLst>
            </a:pPr>
            <a:r>
              <a:rPr lang="en-IN" sz="2000" b="1" dirty="0">
                <a:latin typeface="Cambria"/>
                <a:cs typeface="Cambria"/>
              </a:rPr>
              <a:t> </a:t>
            </a:r>
            <a:r>
              <a:rPr lang="en-US" sz="1700" dirty="0">
                <a:latin typeface="Lucida Fax" panose="02060602050505020204" pitchFamily="18" charset="0"/>
              </a:rPr>
              <a:t>With the increasing adoption of smart city and digital tourism initiatives, there is a growing need for an intelligent, automated, and secure tourist safety solution. By integrating Artificial Intelligence (AI) for risk analysis, Geo-Fencing for location-based monitoring, and Blockchain-based Digital Identity for secure identification, the system can proactively monitor tourist safety and enable rapid incident response. This approach enhances tourist protection, builds trust in tourism services, and supports safer travel experiences</a:t>
            </a:r>
            <a:r>
              <a:rPr lang="en-US" sz="1750" dirty="0">
                <a:latin typeface="Lucida Fax" panose="02060602050505020204" pitchFamily="18" charset="0"/>
              </a:rPr>
              <a:t>.</a:t>
            </a:r>
          </a:p>
          <a:p>
            <a:pPr marL="354965" marR="83820" lvl="1" indent="-342900">
              <a:spcBef>
                <a:spcPts val="1320"/>
              </a:spcBef>
              <a:buSzPct val="111627"/>
              <a:buFont typeface="Arial" panose="020B0604020202020204" pitchFamily="34" charset="0"/>
              <a:buChar char="•"/>
              <a:tabLst>
                <a:tab pos="393700" algn="l"/>
              </a:tabLst>
            </a:pPr>
            <a:r>
              <a:rPr lang="en-US" sz="1750" dirty="0">
                <a:latin typeface="Lucida Fax" panose="02060602050505020204" pitchFamily="18" charset="0"/>
              </a:rPr>
              <a:t> </a:t>
            </a:r>
            <a:r>
              <a:rPr lang="en-US" sz="1700" dirty="0">
                <a:latin typeface="Lucida Fax" panose="02060602050505020204" pitchFamily="18" charset="0"/>
              </a:rPr>
              <a:t>Current systems do not provide real-time monitoring of tourist movement or timely detection of emergencies. The lack of an integrated platform and secure digital identity system causes delays in incident response and tourist verification.</a:t>
            </a:r>
            <a:endParaRPr lang="en-US" sz="1700" dirty="0">
              <a:latin typeface="Lucida Fax" panose="02060602050505020204" pitchFamily="18" charset="0"/>
              <a:cs typeface="Verdana"/>
            </a:endParaRPr>
          </a:p>
          <a:p>
            <a:pPr marL="354965" marR="83820" lvl="1" indent="-342900">
              <a:spcBef>
                <a:spcPts val="1320"/>
              </a:spcBef>
              <a:buSzPct val="111627"/>
              <a:buFont typeface="Arial" panose="020B0604020202020204" pitchFamily="34" charset="0"/>
              <a:buChar char="•"/>
              <a:tabLst>
                <a:tab pos="393700" algn="l"/>
              </a:tabLst>
            </a:pPr>
            <a:endParaRPr lang="en-US" sz="2000" dirty="0">
              <a:latin typeface="Lucida Fax" panose="0206060205050502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9616" rIns="0" bIns="0" rtlCol="0">
            <a:spAutoFit/>
          </a:bodyPr>
          <a:lstStyle/>
          <a:p>
            <a:pPr marL="12700">
              <a:lnSpc>
                <a:spcPct val="100000"/>
              </a:lnSpc>
              <a:spcBef>
                <a:spcPts val="125"/>
              </a:spcBef>
            </a:pPr>
            <a:r>
              <a:rPr spc="-10" dirty="0"/>
              <a:t>Content</a:t>
            </a:r>
          </a:p>
        </p:txBody>
      </p:sp>
      <p:sp>
        <p:nvSpPr>
          <p:cNvPr id="3" name="object 3"/>
          <p:cNvSpPr txBox="1"/>
          <p:nvPr/>
        </p:nvSpPr>
        <p:spPr>
          <a:xfrm>
            <a:off x="559434" y="1079055"/>
            <a:ext cx="11239500" cy="3972882"/>
          </a:xfrm>
          <a:prstGeom prst="rect">
            <a:avLst/>
          </a:prstGeom>
        </p:spPr>
        <p:txBody>
          <a:bodyPr vert="horz" wrap="square" lIns="0" tIns="190500" rIns="0" bIns="0" rtlCol="0">
            <a:spAutoFit/>
          </a:bodyPr>
          <a:lstStyle/>
          <a:p>
            <a:pPr marL="12700">
              <a:lnSpc>
                <a:spcPct val="100000"/>
              </a:lnSpc>
              <a:spcBef>
                <a:spcPts val="1500"/>
              </a:spcBef>
            </a:pPr>
            <a:r>
              <a:rPr sz="2400" b="1" spc="-10" dirty="0">
                <a:latin typeface="Cambria"/>
                <a:cs typeface="Cambria"/>
              </a:rPr>
              <a:t>Objectives:</a:t>
            </a:r>
            <a:endParaRPr sz="2400" dirty="0">
              <a:latin typeface="Cambria"/>
              <a:cs typeface="Cambria"/>
            </a:endParaRPr>
          </a:p>
          <a:p>
            <a:pPr marL="355600" marR="16510" indent="-343535">
              <a:lnSpc>
                <a:spcPct val="150000"/>
              </a:lnSpc>
              <a:spcBef>
                <a:spcPts val="280"/>
              </a:spcBef>
              <a:buSzPct val="154838"/>
              <a:buFont typeface="Arial MT"/>
              <a:buChar char="•"/>
              <a:tabLst>
                <a:tab pos="355600" algn="l"/>
              </a:tabLst>
            </a:pPr>
            <a:r>
              <a:rPr lang="en-US" b="1" dirty="0">
                <a:latin typeface="Cambria" panose="02040503050406030204" pitchFamily="18" charset="0"/>
                <a:ea typeface="Cambria" panose="02040503050406030204" pitchFamily="18" charset="0"/>
              </a:rPr>
              <a:t>Ensure Tourist Safety Monitoring</a:t>
            </a:r>
            <a:r>
              <a:rPr lang="en-US" dirty="0"/>
              <a:t> </a:t>
            </a:r>
            <a:r>
              <a:rPr lang="en-US" sz="1600" dirty="0"/>
              <a:t>–</a:t>
            </a:r>
            <a:r>
              <a:rPr lang="en-US" sz="1700" dirty="0">
                <a:latin typeface="Lucida Fax" panose="02060602050505020204" pitchFamily="18" charset="0"/>
              </a:rPr>
              <a:t>To continuously monitor tourist location and activities using AI and Geo-Fencing to identify potential safety risks in real time</a:t>
            </a:r>
            <a:r>
              <a:rPr sz="1700" spc="-10" dirty="0">
                <a:latin typeface="Lucida Fax" panose="02060602050505020204" pitchFamily="18" charset="0"/>
                <a:cs typeface="Verdana"/>
              </a:rPr>
              <a:t>.</a:t>
            </a:r>
            <a:endParaRPr sz="1700" dirty="0">
              <a:latin typeface="Lucida Fax" panose="02060602050505020204" pitchFamily="18" charset="0"/>
              <a:cs typeface="Verdana"/>
            </a:endParaRPr>
          </a:p>
          <a:p>
            <a:pPr marL="285750" indent="-285750">
              <a:lnSpc>
                <a:spcPct val="150000"/>
              </a:lnSpc>
              <a:spcBef>
                <a:spcPts val="450"/>
              </a:spcBef>
              <a:buSzPct val="150000"/>
              <a:buFont typeface="Arial" panose="020B0604020202020204" pitchFamily="34" charset="0"/>
              <a:buChar char="•"/>
            </a:pPr>
            <a:r>
              <a:rPr lang="en-US" b="1" dirty="0">
                <a:latin typeface="Cambria" panose="02040503050406030204" pitchFamily="18" charset="0"/>
                <a:ea typeface="Cambria" panose="02040503050406030204" pitchFamily="18" charset="0"/>
              </a:rPr>
              <a:t>Enable Intelligent Incident Detection</a:t>
            </a:r>
            <a:r>
              <a:rPr lang="en-US" dirty="0">
                <a:latin typeface="Cambria" panose="02040503050406030204" pitchFamily="18" charset="0"/>
                <a:ea typeface="Cambria" panose="02040503050406030204" pitchFamily="18" charset="0"/>
              </a:rPr>
              <a:t> </a:t>
            </a:r>
            <a:r>
              <a:rPr lang="en-US" sz="1400" dirty="0"/>
              <a:t>–</a:t>
            </a:r>
            <a:r>
              <a:rPr lang="en-US" sz="1700" dirty="0">
                <a:latin typeface="Lucida Fax" panose="02060602050505020204" pitchFamily="18" charset="0"/>
              </a:rPr>
              <a:t>To detect abnormal behavior, emergencies, or entry into</a:t>
            </a:r>
          </a:p>
          <a:p>
            <a:pPr>
              <a:lnSpc>
                <a:spcPct val="150000"/>
              </a:lnSpc>
              <a:spcBef>
                <a:spcPts val="450"/>
              </a:spcBef>
              <a:buSzPct val="150000"/>
            </a:pPr>
            <a:r>
              <a:rPr lang="en-US" sz="1700" dirty="0">
                <a:latin typeface="Lucida Fax" panose="02060602050505020204" pitchFamily="18" charset="0"/>
              </a:rPr>
              <a:t>     restricted zones through- AI-based analysis and geo-fence alerts.</a:t>
            </a:r>
          </a:p>
          <a:p>
            <a:pPr marL="285750" indent="-285750">
              <a:lnSpc>
                <a:spcPct val="150000"/>
              </a:lnSpc>
              <a:spcBef>
                <a:spcPts val="450"/>
              </a:spcBef>
              <a:buSzPct val="150000"/>
              <a:buFont typeface="Arial" panose="020B0604020202020204" pitchFamily="34" charset="0"/>
              <a:buChar char="•"/>
            </a:pPr>
            <a:r>
              <a:rPr lang="en-US" b="1" dirty="0">
                <a:latin typeface="Cambria" panose="02040503050406030204" pitchFamily="18" charset="0"/>
                <a:ea typeface="Cambria" panose="02040503050406030204" pitchFamily="18" charset="0"/>
              </a:rPr>
              <a:t>Provide Secure Digital Identification</a:t>
            </a:r>
            <a:r>
              <a:rPr lang="en-US" dirty="0">
                <a:latin typeface="Cambria" panose="02040503050406030204" pitchFamily="18" charset="0"/>
                <a:ea typeface="Cambria" panose="02040503050406030204" pitchFamily="18" charset="0"/>
              </a:rPr>
              <a:t> </a:t>
            </a:r>
            <a:r>
              <a:rPr lang="en-US" sz="1400" dirty="0"/>
              <a:t>–</a:t>
            </a:r>
            <a:r>
              <a:rPr lang="en-US" sz="1700" dirty="0">
                <a:latin typeface="Lucida Fax" panose="02060602050505020204" pitchFamily="18" charset="0"/>
              </a:rPr>
              <a:t>To implement a Blockchain-based Digital ID system that ensures secure, tamper-proof, and reliable tourist identity verification</a:t>
            </a:r>
          </a:p>
          <a:p>
            <a:pPr marL="298450" indent="-285750">
              <a:lnSpc>
                <a:spcPct val="150000"/>
              </a:lnSpc>
              <a:buSzPct val="171428"/>
              <a:buFont typeface="Arial" panose="020B0604020202020204" pitchFamily="34" charset="0"/>
              <a:buChar char="•"/>
              <a:tabLst>
                <a:tab pos="298450" algn="l"/>
              </a:tabLst>
            </a:pPr>
            <a:r>
              <a:rPr lang="en-US" b="1" dirty="0">
                <a:latin typeface="Cambria" panose="02040503050406030204" pitchFamily="18" charset="0"/>
                <a:ea typeface="Cambria" panose="02040503050406030204" pitchFamily="18" charset="0"/>
              </a:rPr>
              <a:t> Enhance Incident Response Efficiency</a:t>
            </a:r>
            <a:r>
              <a:rPr lang="en-US" dirty="0">
                <a:latin typeface="Cambria" panose="02040503050406030204" pitchFamily="18" charset="0"/>
                <a:ea typeface="Cambria" panose="02040503050406030204" pitchFamily="18" charset="0"/>
              </a:rPr>
              <a:t> </a:t>
            </a:r>
            <a:r>
              <a:rPr lang="en-US" dirty="0"/>
              <a:t>–</a:t>
            </a:r>
            <a:r>
              <a:rPr lang="en-US" sz="1700" dirty="0">
                <a:latin typeface="Lucida Fax" panose="02060602050505020204" pitchFamily="18" charset="0"/>
              </a:rPr>
              <a:t>To automatically notify authorities and emergency services for faster and more effective incident response</a:t>
            </a:r>
            <a:endParaRPr sz="1700" dirty="0">
              <a:latin typeface="Lucida Fax" panose="02060602050505020204" pitchFamily="18" charset="0"/>
              <a:cs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875" rIns="0" bIns="0" rtlCol="0">
            <a:spAutoFit/>
          </a:bodyPr>
          <a:lstStyle/>
          <a:p>
            <a:pPr marL="12700">
              <a:lnSpc>
                <a:spcPct val="100000"/>
              </a:lnSpc>
              <a:spcBef>
                <a:spcPts val="125"/>
              </a:spcBef>
            </a:pPr>
            <a:r>
              <a:rPr dirty="0"/>
              <a:t>Background</a:t>
            </a:r>
            <a:r>
              <a:rPr spc="75" dirty="0"/>
              <a:t> </a:t>
            </a:r>
            <a:r>
              <a:rPr dirty="0"/>
              <a:t>and</a:t>
            </a:r>
            <a:r>
              <a:rPr spc="70" dirty="0"/>
              <a:t> </a:t>
            </a:r>
            <a:r>
              <a:rPr dirty="0"/>
              <a:t>Related</a:t>
            </a:r>
            <a:r>
              <a:rPr spc="75" dirty="0"/>
              <a:t> </a:t>
            </a:r>
            <a:r>
              <a:rPr dirty="0"/>
              <a:t>work</a:t>
            </a:r>
            <a:r>
              <a:rPr spc="100" dirty="0"/>
              <a:t> </a:t>
            </a:r>
            <a:r>
              <a:rPr dirty="0"/>
              <a:t>for</a:t>
            </a:r>
            <a:r>
              <a:rPr spc="160" dirty="0"/>
              <a:t> </a:t>
            </a:r>
            <a:r>
              <a:rPr dirty="0"/>
              <a:t>title</a:t>
            </a:r>
            <a:r>
              <a:rPr spc="110" dirty="0"/>
              <a:t> </a:t>
            </a:r>
            <a:r>
              <a:rPr spc="-10" dirty="0"/>
              <a:t>Selection</a:t>
            </a:r>
          </a:p>
        </p:txBody>
      </p:sp>
      <p:sp>
        <p:nvSpPr>
          <p:cNvPr id="3" name="object 3"/>
          <p:cNvSpPr txBox="1"/>
          <p:nvPr/>
        </p:nvSpPr>
        <p:spPr>
          <a:xfrm>
            <a:off x="887730" y="2386866"/>
            <a:ext cx="10365105" cy="772647"/>
          </a:xfrm>
          <a:prstGeom prst="rect">
            <a:avLst/>
          </a:prstGeom>
        </p:spPr>
        <p:txBody>
          <a:bodyPr vert="horz" wrap="square" lIns="0" tIns="15875" rIns="0" bIns="0" rtlCol="0">
            <a:spAutoFit/>
          </a:bodyPr>
          <a:lstStyle/>
          <a:p>
            <a:pPr marL="297815" indent="-285115">
              <a:lnSpc>
                <a:spcPct val="150000"/>
              </a:lnSpc>
              <a:spcBef>
                <a:spcPts val="125"/>
              </a:spcBef>
              <a:buSzPct val="154838"/>
              <a:buFont typeface="Arial MT"/>
              <a:buChar char="•"/>
              <a:tabLst>
                <a:tab pos="297815" algn="l"/>
              </a:tabLst>
            </a:pPr>
            <a:r>
              <a:rPr lang="en-US" b="1" dirty="0">
                <a:latin typeface="Cambria" panose="02040503050406030204" pitchFamily="18" charset="0"/>
                <a:ea typeface="Cambria" panose="02040503050406030204" pitchFamily="18" charset="0"/>
              </a:rPr>
              <a:t>Cultural tourism </a:t>
            </a:r>
            <a:r>
              <a:rPr lang="en-US" sz="1600" dirty="0"/>
              <a:t>– </a:t>
            </a:r>
            <a:r>
              <a:rPr lang="en-US" sz="1700" dirty="0">
                <a:latin typeface="Lucida Fax" panose="02060602050505020204" pitchFamily="18" charset="0"/>
                <a:ea typeface="Verdana" panose="020B0604030504040204" pitchFamily="34" charset="0"/>
              </a:rPr>
              <a:t>focuses on heritage, traditions, and local communities, but faces </a:t>
            </a:r>
            <a:r>
              <a:rPr lang="en-US" sz="1700">
                <a:latin typeface="Lucida Fax" panose="02060602050505020204" pitchFamily="18" charset="0"/>
                <a:ea typeface="Verdana" panose="020B0604030504040204" pitchFamily="34" charset="0"/>
              </a:rPr>
              <a:t>challenges of commercialization </a:t>
            </a:r>
            <a:r>
              <a:rPr lang="en-US" sz="1700" dirty="0">
                <a:latin typeface="Lucida Fax" panose="02060602050505020204" pitchFamily="18" charset="0"/>
                <a:ea typeface="Verdana" panose="020B0604030504040204" pitchFamily="34" charset="0"/>
              </a:rPr>
              <a:t>and loss of authenticity</a:t>
            </a:r>
            <a:endParaRPr sz="1700" dirty="0">
              <a:latin typeface="Lucida Fax" panose="02060602050505020204" pitchFamily="18" charset="0"/>
              <a:ea typeface="Verdana" panose="020B0604030504040204" pitchFamily="34" charset="0"/>
              <a:cs typeface="Verdana"/>
            </a:endParaRPr>
          </a:p>
        </p:txBody>
      </p:sp>
      <p:sp>
        <p:nvSpPr>
          <p:cNvPr id="4" name="object 4"/>
          <p:cNvSpPr txBox="1"/>
          <p:nvPr/>
        </p:nvSpPr>
        <p:spPr>
          <a:xfrm flipH="1">
            <a:off x="762000" y="1143000"/>
            <a:ext cx="10896600" cy="599523"/>
          </a:xfrm>
          <a:prstGeom prst="rect">
            <a:avLst/>
          </a:prstGeom>
        </p:spPr>
        <p:txBody>
          <a:bodyPr vert="horz" wrap="square" lIns="0" tIns="108585" rIns="0" bIns="0" rtlCol="0">
            <a:spAutoFit/>
          </a:bodyPr>
          <a:lstStyle/>
          <a:p>
            <a:pPr marL="298450">
              <a:lnSpc>
                <a:spcPct val="100000"/>
              </a:lnSpc>
              <a:spcBef>
                <a:spcPts val="855"/>
              </a:spcBef>
            </a:pPr>
            <a:r>
              <a:rPr sz="1550" spc="-10" dirty="0">
                <a:latin typeface="Verdana"/>
                <a:cs typeface="Verdana"/>
              </a:rPr>
              <a:t>.</a:t>
            </a:r>
            <a:endParaRPr sz="1550" dirty="0">
              <a:latin typeface="Verdana"/>
              <a:cs typeface="Verdana"/>
            </a:endParaRPr>
          </a:p>
          <a:p>
            <a:pPr>
              <a:lnSpc>
                <a:spcPct val="100000"/>
              </a:lnSpc>
              <a:spcBef>
                <a:spcPts val="90"/>
              </a:spcBef>
            </a:pPr>
            <a:endParaRPr sz="1550" dirty="0">
              <a:latin typeface="Verdana"/>
              <a:cs typeface="Verdana"/>
            </a:endParaRPr>
          </a:p>
        </p:txBody>
      </p:sp>
      <p:sp>
        <p:nvSpPr>
          <p:cNvPr id="6" name="object 6"/>
          <p:cNvSpPr txBox="1"/>
          <p:nvPr/>
        </p:nvSpPr>
        <p:spPr>
          <a:xfrm>
            <a:off x="887730" y="3535625"/>
            <a:ext cx="10367645" cy="772647"/>
          </a:xfrm>
          <a:prstGeom prst="rect">
            <a:avLst/>
          </a:prstGeom>
        </p:spPr>
        <p:txBody>
          <a:bodyPr vert="horz" wrap="square" lIns="0" tIns="15875" rIns="0" bIns="0" rtlCol="0">
            <a:spAutoFit/>
          </a:bodyPr>
          <a:lstStyle/>
          <a:p>
            <a:pPr marL="297815" indent="-285115">
              <a:lnSpc>
                <a:spcPct val="150000"/>
              </a:lnSpc>
              <a:spcBef>
                <a:spcPts val="125"/>
              </a:spcBef>
              <a:buSzPct val="154838"/>
              <a:buFont typeface="Arial MT"/>
              <a:buChar char="•"/>
              <a:tabLst>
                <a:tab pos="297815" algn="l"/>
                <a:tab pos="1022350" algn="l"/>
                <a:tab pos="1325880" algn="l"/>
                <a:tab pos="1819910" algn="l"/>
                <a:tab pos="2083435" algn="l"/>
                <a:tab pos="2630170" algn="l"/>
                <a:tab pos="2966720" algn="l"/>
                <a:tab pos="3230245" algn="l"/>
                <a:tab pos="4059554" algn="l"/>
                <a:tab pos="5300345" algn="l"/>
                <a:tab pos="5851525" algn="l"/>
                <a:tab pos="6888480" algn="l"/>
                <a:tab pos="7489190" algn="l"/>
                <a:tab pos="8108315" algn="l"/>
                <a:tab pos="8627745" algn="l"/>
                <a:tab pos="9391650" algn="l"/>
              </a:tabLst>
            </a:pPr>
            <a:r>
              <a:rPr lang="en-US" b="1" dirty="0">
                <a:latin typeface="Cambria" panose="02040503050406030204" pitchFamily="18" charset="0"/>
                <a:ea typeface="Cambria" panose="02040503050406030204" pitchFamily="18" charset="0"/>
              </a:rPr>
              <a:t>Digital platform</a:t>
            </a:r>
            <a:r>
              <a:rPr lang="en-US" sz="1550" dirty="0"/>
              <a:t>– </a:t>
            </a:r>
            <a:r>
              <a:rPr lang="en-US" sz="1700" dirty="0">
                <a:latin typeface="Lucida Fax" panose="02060602050505020204" pitchFamily="18" charset="0"/>
              </a:rPr>
              <a:t>(e.g., TripAdvisor</a:t>
            </a:r>
            <a:r>
              <a:rPr lang="en-US" sz="1700" dirty="0">
                <a:latin typeface="Lucida Fax" panose="02060602050505020204" pitchFamily="18" charset="0"/>
                <a:ea typeface="Verdana" panose="020B0604030504040204" pitchFamily="34" charset="0"/>
              </a:rPr>
              <a:t>, Airbnb, Booking.com) have revolutionized travel planning, but they</a:t>
            </a:r>
            <a:r>
              <a:rPr lang="en-US" sz="1550" dirty="0">
                <a:latin typeface="Verdana" panose="020B0604030504040204" pitchFamily="34" charset="0"/>
                <a:ea typeface="Verdana" panose="020B0604030504040204" pitchFamily="34" charset="0"/>
              </a:rPr>
              <a:t> </a:t>
            </a:r>
            <a:r>
              <a:rPr lang="en-US" sz="1700" dirty="0">
                <a:latin typeface="Lucida Fax" panose="02060602050505020204" pitchFamily="18" charset="0"/>
                <a:ea typeface="Verdana" panose="020B0604030504040204" pitchFamily="34" charset="0"/>
              </a:rPr>
              <a:t>prioritize convenience and scale over sustainability and cultural depth</a:t>
            </a:r>
            <a:endParaRPr sz="1700" dirty="0">
              <a:latin typeface="Lucida Fax" panose="02060602050505020204" pitchFamily="18" charset="0"/>
              <a:ea typeface="Verdana" panose="020B0604030504040204" pitchFamily="34" charset="0"/>
              <a:cs typeface="Verdana"/>
            </a:endParaRPr>
          </a:p>
        </p:txBody>
      </p:sp>
      <p:sp>
        <p:nvSpPr>
          <p:cNvPr id="7" name="TextBox 6">
            <a:extLst>
              <a:ext uri="{FF2B5EF4-FFF2-40B4-BE49-F238E27FC236}">
                <a16:creationId xmlns:a16="http://schemas.microsoft.com/office/drawing/2014/main" id="{5785D365-CF31-40F5-506D-B02B2E477CC9}"/>
              </a:ext>
            </a:extLst>
          </p:cNvPr>
          <p:cNvSpPr txBox="1"/>
          <p:nvPr/>
        </p:nvSpPr>
        <p:spPr>
          <a:xfrm>
            <a:off x="685800" y="1295400"/>
            <a:ext cx="10744200" cy="848950"/>
          </a:xfrm>
          <a:prstGeom prst="rect">
            <a:avLst/>
          </a:prstGeom>
          <a:noFill/>
        </p:spPr>
        <p:txBody>
          <a:bodyPr wrap="square" rtlCol="0">
            <a:spAutoFit/>
          </a:bodyPr>
          <a:lstStyle/>
          <a:p>
            <a:pPr marL="285750" indent="-285750">
              <a:lnSpc>
                <a:spcPct val="150000"/>
              </a:lnSpc>
              <a:buSzPct val="150000"/>
              <a:buFont typeface="Arial" panose="020B0604020202020204" pitchFamily="34" charset="0"/>
              <a:buChar char="•"/>
            </a:pPr>
            <a:r>
              <a:rPr lang="en-US" dirty="0"/>
              <a:t> </a:t>
            </a:r>
            <a:r>
              <a:rPr lang="en-US" b="1" dirty="0">
                <a:latin typeface="Cambria" panose="02040503050406030204" pitchFamily="18" charset="0"/>
                <a:ea typeface="Cambria" panose="02040503050406030204" pitchFamily="18" charset="0"/>
              </a:rPr>
              <a:t>Eco tourism </a:t>
            </a:r>
            <a:r>
              <a:rPr lang="en-US" sz="1550" dirty="0">
                <a:latin typeface="Verdana" panose="020B0604030504040204" pitchFamily="34" charset="0"/>
                <a:ea typeface="Verdana" panose="020B0604030504040204" pitchFamily="34" charset="0"/>
              </a:rPr>
              <a:t>– </a:t>
            </a:r>
            <a:r>
              <a:rPr lang="en-US" sz="1700" dirty="0">
                <a:latin typeface="Lucida Fax" panose="02060602050505020204" pitchFamily="18" charset="0"/>
                <a:ea typeface="Verdana" panose="020B0604030504040204" pitchFamily="34" charset="0"/>
              </a:rPr>
              <a:t>emphasizes responsible travel to natural areas, minimizing environmental impact and supporting conservation</a:t>
            </a:r>
            <a:r>
              <a:rPr lang="en-US" sz="1550" dirty="0">
                <a:latin typeface="Verdana" panose="020B0604030504040204" pitchFamily="34" charset="0"/>
                <a:ea typeface="Verdana" panose="020B0604030504040204" pitchFamily="34" charset="0"/>
              </a:rPr>
              <a:t>.</a:t>
            </a:r>
            <a:endParaRPr lang="en-IN" sz="1550" dirty="0">
              <a:latin typeface="Verdana" panose="020B0604030504040204" pitchFamily="34" charset="0"/>
              <a:ea typeface="Verdana" panose="020B060403050404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1530" rIns="0" bIns="0" rtlCol="0">
            <a:spAutoFit/>
          </a:bodyPr>
          <a:lstStyle/>
          <a:p>
            <a:pPr marL="165100">
              <a:lnSpc>
                <a:spcPct val="100000"/>
              </a:lnSpc>
              <a:spcBef>
                <a:spcPts val="125"/>
              </a:spcBef>
            </a:pPr>
            <a:r>
              <a:rPr dirty="0"/>
              <a:t>Analysis</a:t>
            </a:r>
            <a:r>
              <a:rPr spc="60" dirty="0"/>
              <a:t> </a:t>
            </a:r>
            <a:r>
              <a:rPr dirty="0"/>
              <a:t>of</a:t>
            </a:r>
            <a:r>
              <a:rPr spc="70" dirty="0"/>
              <a:t> </a:t>
            </a:r>
            <a:r>
              <a:rPr dirty="0"/>
              <a:t>Problem</a:t>
            </a:r>
            <a:r>
              <a:rPr spc="90" dirty="0"/>
              <a:t> </a:t>
            </a:r>
            <a:r>
              <a:rPr spc="-10" dirty="0"/>
              <a:t>Statement</a:t>
            </a:r>
          </a:p>
        </p:txBody>
      </p:sp>
      <p:sp>
        <p:nvSpPr>
          <p:cNvPr id="3" name="object 3"/>
          <p:cNvSpPr txBox="1">
            <a:spLocks noGrp="1"/>
          </p:cNvSpPr>
          <p:nvPr>
            <p:ph type="body" idx="1"/>
          </p:nvPr>
        </p:nvSpPr>
        <p:spPr>
          <a:xfrm>
            <a:off x="1044892" y="1167764"/>
            <a:ext cx="10363835" cy="5458546"/>
          </a:xfrm>
          <a:prstGeom prst="rect">
            <a:avLst/>
          </a:prstGeom>
        </p:spPr>
        <p:txBody>
          <a:bodyPr vert="horz" wrap="square" lIns="0" tIns="13335" rIns="0" bIns="0" rtlCol="0">
            <a:spAutoFit/>
          </a:bodyPr>
          <a:lstStyle/>
          <a:p>
            <a:pPr marL="12700">
              <a:lnSpc>
                <a:spcPct val="100000"/>
              </a:lnSpc>
              <a:spcBef>
                <a:spcPts val="105"/>
              </a:spcBef>
            </a:pPr>
            <a:r>
              <a:rPr b="1" dirty="0">
                <a:latin typeface="Cambria"/>
                <a:cs typeface="Cambria"/>
              </a:rPr>
              <a:t>Technical</a:t>
            </a:r>
            <a:r>
              <a:rPr b="1" spc="-60" dirty="0">
                <a:latin typeface="Cambria"/>
                <a:cs typeface="Cambria"/>
              </a:rPr>
              <a:t> </a:t>
            </a:r>
            <a:r>
              <a:rPr b="1" spc="-10" dirty="0">
                <a:latin typeface="Cambria"/>
                <a:cs typeface="Cambria"/>
              </a:rPr>
              <a:t>challenges</a:t>
            </a:r>
            <a:r>
              <a:rPr lang="en-IN" b="1" spc="-10" dirty="0">
                <a:latin typeface="Cambria"/>
                <a:cs typeface="Cambria"/>
              </a:rPr>
              <a:t> </a:t>
            </a:r>
            <a:r>
              <a:rPr b="1" spc="-10" dirty="0">
                <a:latin typeface="Cambria"/>
                <a:cs typeface="Cambria"/>
              </a:rPr>
              <a:t>:</a:t>
            </a:r>
          </a:p>
          <a:p>
            <a:pPr marL="297815" marR="5080" indent="-285750">
              <a:lnSpc>
                <a:spcPct val="150000"/>
              </a:lnSpc>
              <a:spcBef>
                <a:spcPts val="1350"/>
              </a:spcBef>
              <a:buFont typeface="Arial MT"/>
              <a:buChar char="•"/>
              <a:tabLst>
                <a:tab pos="297815" algn="l"/>
              </a:tabLst>
            </a:pPr>
            <a:r>
              <a:rPr lang="en-US" sz="1800" b="1" dirty="0">
                <a:latin typeface="Cambria" panose="02040503050406030204" pitchFamily="18" charset="0"/>
                <a:ea typeface="Cambria" panose="02040503050406030204" pitchFamily="18" charset="0"/>
              </a:rPr>
              <a:t>Geo-Fencing Precision vs. Power</a:t>
            </a:r>
            <a:r>
              <a:rPr lang="en-US" sz="1600" dirty="0"/>
              <a:t> </a:t>
            </a:r>
            <a:r>
              <a:rPr lang="en-US" sz="1700" dirty="0">
                <a:latin typeface="Lucida Fax" panose="02060602050505020204" pitchFamily="18" charset="0"/>
              </a:rPr>
              <a:t>– Maintaining high-accuracy tracking in remote or dense urban areas often leads to severe battery drain and false boundary alerts</a:t>
            </a:r>
          </a:p>
          <a:p>
            <a:pPr marL="297815" marR="5080" indent="-285750">
              <a:lnSpc>
                <a:spcPct val="150000"/>
              </a:lnSpc>
              <a:spcBef>
                <a:spcPts val="1350"/>
              </a:spcBef>
              <a:buFont typeface="Arial MT"/>
              <a:buChar char="•"/>
              <a:tabLst>
                <a:tab pos="297815" algn="l"/>
              </a:tabLst>
            </a:pPr>
            <a:r>
              <a:rPr lang="en-US" sz="1800" b="1" dirty="0">
                <a:latin typeface="Cambria" panose="02040503050406030204" pitchFamily="18" charset="0"/>
                <a:ea typeface="Cambria" panose="02040503050406030204" pitchFamily="18" charset="0"/>
              </a:rPr>
              <a:t>AI False Positive Mitigation</a:t>
            </a:r>
            <a:r>
              <a:rPr lang="en-US" sz="1600" dirty="0"/>
              <a:t> – </a:t>
            </a:r>
            <a:r>
              <a:rPr lang="en-US" sz="1700" dirty="0">
                <a:latin typeface="Lucida Fax" panose="02060602050505020204" pitchFamily="18" charset="0"/>
              </a:rPr>
              <a:t>Distinguishing between a genuine medical emergency (like a fall) and everyday movements (like dancing or dropping a phone) requires high-fidelity sensor processing.</a:t>
            </a:r>
          </a:p>
          <a:p>
            <a:pPr marL="297815" marR="5080" indent="-285750">
              <a:lnSpc>
                <a:spcPct val="150000"/>
              </a:lnSpc>
              <a:spcBef>
                <a:spcPts val="1350"/>
              </a:spcBef>
              <a:buFont typeface="Arial" panose="020B0604020202020204" pitchFamily="34" charset="0"/>
              <a:buChar char="•"/>
              <a:tabLst>
                <a:tab pos="297815" algn="l"/>
              </a:tabLst>
            </a:pPr>
            <a:r>
              <a:rPr lang="en-US" sz="1800" b="1" dirty="0">
                <a:latin typeface="Cambria" panose="02040503050406030204" pitchFamily="18" charset="0"/>
                <a:ea typeface="Cambria" panose="02040503050406030204" pitchFamily="18" charset="0"/>
              </a:rPr>
              <a:t>Blockchain Scalability &amp; Speed</a:t>
            </a:r>
            <a:r>
              <a:rPr lang="en-US" sz="1800" dirty="0">
                <a:latin typeface="Cambria" panose="02040503050406030204" pitchFamily="18" charset="0"/>
                <a:ea typeface="Cambria" panose="02040503050406030204" pitchFamily="18" charset="0"/>
              </a:rPr>
              <a:t> </a:t>
            </a:r>
            <a:r>
              <a:rPr lang="en-US" sz="1600" dirty="0"/>
              <a:t>– </a:t>
            </a:r>
            <a:r>
              <a:rPr lang="en-US" sz="1700" dirty="0">
                <a:latin typeface="Lucida Fax" panose="02060602050505020204" pitchFamily="18" charset="0"/>
              </a:rPr>
              <a:t>Integrating decentralized identity (DID) for real-time emergency access can suffer from network latency and slow verification times in high-traffic zones.</a:t>
            </a:r>
          </a:p>
          <a:p>
            <a:pPr marL="297815" marR="5080" indent="-285750">
              <a:lnSpc>
                <a:spcPct val="150000"/>
              </a:lnSpc>
              <a:spcBef>
                <a:spcPts val="1350"/>
              </a:spcBef>
              <a:buFont typeface="Arial" panose="020B0604020202020204" pitchFamily="34" charset="0"/>
              <a:buChar char="•"/>
              <a:tabLst>
                <a:tab pos="297815" algn="l"/>
              </a:tabLst>
            </a:pPr>
            <a:r>
              <a:rPr lang="en-US" sz="1800" b="1" dirty="0">
                <a:latin typeface="Cambria" panose="02040503050406030204" pitchFamily="18" charset="0"/>
                <a:ea typeface="Cambria" panose="02040503050406030204" pitchFamily="18" charset="0"/>
              </a:rPr>
              <a:t>Interoperability Standards</a:t>
            </a:r>
            <a:r>
              <a:rPr lang="en-US" sz="1800" dirty="0">
                <a:latin typeface="Cambria" panose="02040503050406030204" pitchFamily="18" charset="0"/>
                <a:ea typeface="Cambria" panose="02040503050406030204" pitchFamily="18" charset="0"/>
              </a:rPr>
              <a:t> </a:t>
            </a:r>
            <a:r>
              <a:rPr lang="en-US" sz="1600" dirty="0"/>
              <a:t>– </a:t>
            </a:r>
            <a:r>
              <a:rPr lang="en-US" sz="1700" dirty="0">
                <a:latin typeface="Lucida Fax" panose="02060602050505020204" pitchFamily="18" charset="0"/>
              </a:rPr>
              <a:t>Creating a unified digital ID framework that is recognized across different international jurisdictions, police forces, and medical institutions remains a significant hurdle</a:t>
            </a:r>
            <a:endParaRPr sz="1700" dirty="0">
              <a:latin typeface="Lucida Fax" panose="0206060205050502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1530" rIns="0" bIns="0" rtlCol="0">
            <a:spAutoFit/>
          </a:bodyPr>
          <a:lstStyle/>
          <a:p>
            <a:pPr marL="165100">
              <a:lnSpc>
                <a:spcPct val="100000"/>
              </a:lnSpc>
              <a:spcBef>
                <a:spcPts val="125"/>
              </a:spcBef>
            </a:pPr>
            <a:r>
              <a:rPr dirty="0">
                <a:latin typeface="Verdana"/>
                <a:cs typeface="Verdana"/>
              </a:rPr>
              <a:t>Technology</a:t>
            </a:r>
            <a:r>
              <a:rPr spc="180" dirty="0">
                <a:latin typeface="Verdana"/>
                <a:cs typeface="Verdana"/>
              </a:rPr>
              <a:t> </a:t>
            </a:r>
            <a:r>
              <a:rPr dirty="0">
                <a:latin typeface="Verdana"/>
                <a:cs typeface="Verdana"/>
              </a:rPr>
              <a:t>Stack</a:t>
            </a:r>
            <a:r>
              <a:rPr spc="215" dirty="0">
                <a:latin typeface="Verdana"/>
                <a:cs typeface="Verdana"/>
              </a:rPr>
              <a:t> </a:t>
            </a:r>
            <a:r>
              <a:rPr spc="-10" dirty="0">
                <a:latin typeface="Verdana"/>
                <a:cs typeface="Verdana"/>
              </a:rPr>
              <a:t>Components:</a:t>
            </a:r>
          </a:p>
        </p:txBody>
      </p:sp>
      <p:sp>
        <p:nvSpPr>
          <p:cNvPr id="3" name="object 3"/>
          <p:cNvSpPr txBox="1">
            <a:spLocks noGrp="1"/>
          </p:cNvSpPr>
          <p:nvPr>
            <p:ph type="body" idx="1"/>
          </p:nvPr>
        </p:nvSpPr>
        <p:spPr>
          <a:xfrm>
            <a:off x="457200" y="1295400"/>
            <a:ext cx="10363835" cy="3328475"/>
          </a:xfrm>
          <a:prstGeom prst="rect">
            <a:avLst/>
          </a:prstGeom>
        </p:spPr>
        <p:txBody>
          <a:bodyPr vert="horz" wrap="square" lIns="0" tIns="327977" rIns="0" bIns="0" rtlCol="0">
            <a:spAutoFit/>
          </a:bodyPr>
          <a:lstStyle/>
          <a:p>
            <a:pPr marL="179070" indent="-171450">
              <a:lnSpc>
                <a:spcPts val="2865"/>
              </a:lnSpc>
              <a:spcBef>
                <a:spcPts val="100"/>
              </a:spcBef>
              <a:buSzPct val="95833"/>
              <a:buChar char="•"/>
              <a:tabLst>
                <a:tab pos="179070" algn="l"/>
              </a:tabLst>
            </a:pPr>
            <a:r>
              <a:rPr lang="en-IN" sz="1800" b="1" dirty="0">
                <a:latin typeface="Cambria" panose="02040503050406030204" pitchFamily="18" charset="0"/>
                <a:ea typeface="Cambria" panose="02040503050406030204" pitchFamily="18" charset="0"/>
              </a:rPr>
              <a:t>Backend</a:t>
            </a:r>
            <a:r>
              <a:rPr lang="en-IN" sz="1700" dirty="0">
                <a:latin typeface="Lucida Fax" panose="02060602050505020204" pitchFamily="18" charset="0"/>
              </a:rPr>
              <a:t>: Node.js, Fast API (Python), Web Sockets.</a:t>
            </a:r>
          </a:p>
          <a:p>
            <a:pPr marL="179070" indent="-171450">
              <a:lnSpc>
                <a:spcPts val="2865"/>
              </a:lnSpc>
              <a:spcBef>
                <a:spcPts val="100"/>
              </a:spcBef>
              <a:buSzPct val="95833"/>
              <a:buFontTx/>
              <a:buChar char="•"/>
              <a:tabLst>
                <a:tab pos="179070" algn="l"/>
              </a:tabLst>
            </a:pPr>
            <a:r>
              <a:rPr lang="en-IN" sz="1700" b="1" dirty="0">
                <a:latin typeface="Cambria" panose="02040503050406030204" pitchFamily="18" charset="0"/>
                <a:ea typeface="Cambria" panose="02040503050406030204" pitchFamily="18" charset="0"/>
              </a:rPr>
              <a:t>ML</a:t>
            </a:r>
            <a:r>
              <a:rPr lang="en-IN" sz="1700" b="1" spc="-35" dirty="0">
                <a:latin typeface="Cambria" panose="02040503050406030204" pitchFamily="18" charset="0"/>
                <a:ea typeface="Cambria" panose="02040503050406030204" pitchFamily="18" charset="0"/>
              </a:rPr>
              <a:t> </a:t>
            </a:r>
            <a:r>
              <a:rPr lang="en-IN" sz="1700" b="1" dirty="0">
                <a:latin typeface="Cambria" panose="02040503050406030204" pitchFamily="18" charset="0"/>
                <a:ea typeface="Cambria" panose="02040503050406030204" pitchFamily="18" charset="0"/>
              </a:rPr>
              <a:t>Framework</a:t>
            </a:r>
            <a:r>
              <a:rPr lang="en-IN" sz="1700" dirty="0">
                <a:latin typeface="Lucida Fax" panose="02060602050505020204" pitchFamily="18" charset="0"/>
              </a:rPr>
              <a:t>:</a:t>
            </a:r>
            <a:r>
              <a:rPr lang="en-IN" sz="1700" spc="-30" dirty="0">
                <a:latin typeface="Lucida Fax" panose="02060602050505020204" pitchFamily="18" charset="0"/>
              </a:rPr>
              <a:t> </a:t>
            </a:r>
            <a:r>
              <a:rPr lang="en-IN" sz="1700" dirty="0">
                <a:latin typeface="Lucida Fax" panose="02060602050505020204" pitchFamily="18" charset="0"/>
              </a:rPr>
              <a:t>TensorFlow Lite, Python</a:t>
            </a:r>
            <a:r>
              <a:rPr lang="en-IN" sz="1700" spc="-10" dirty="0">
                <a:latin typeface="Lucida Fax" panose="02060602050505020204" pitchFamily="18" charset="0"/>
              </a:rPr>
              <a:t>.</a:t>
            </a:r>
            <a:endParaRPr lang="en-IN" sz="1700" dirty="0">
              <a:latin typeface="Lucida Fax" panose="02060602050505020204" pitchFamily="18" charset="0"/>
            </a:endParaRPr>
          </a:p>
          <a:p>
            <a:pPr marL="179070" indent="-171450">
              <a:lnSpc>
                <a:spcPts val="2865"/>
              </a:lnSpc>
              <a:spcBef>
                <a:spcPts val="100"/>
              </a:spcBef>
              <a:buSzPct val="95833"/>
              <a:buChar char="•"/>
              <a:tabLst>
                <a:tab pos="179070" algn="l"/>
              </a:tabLst>
            </a:pPr>
            <a:r>
              <a:rPr lang="en-IN" sz="1800" b="1" dirty="0">
                <a:latin typeface="Cambria" panose="02040503050406030204" pitchFamily="18" charset="0"/>
                <a:ea typeface="Cambria" panose="02040503050406030204" pitchFamily="18" charset="0"/>
              </a:rPr>
              <a:t>Blockchain:</a:t>
            </a:r>
            <a:r>
              <a:rPr lang="en-IN" sz="1700" spc="-65" dirty="0">
                <a:latin typeface="Lucida Fax" panose="02060602050505020204" pitchFamily="18" charset="0"/>
              </a:rPr>
              <a:t> </a:t>
            </a:r>
            <a:r>
              <a:rPr lang="en-IN" sz="1700" dirty="0">
                <a:latin typeface="Lucida Fax" panose="02060602050505020204" pitchFamily="18" charset="0"/>
              </a:rPr>
              <a:t>Hyperledger Fabric, Solidity</a:t>
            </a:r>
            <a:r>
              <a:rPr lang="en-IN" sz="1700" spc="-10" dirty="0">
                <a:latin typeface="Lucida Fax" panose="02060602050505020204" pitchFamily="18" charset="0"/>
              </a:rPr>
              <a:t>.</a:t>
            </a:r>
          </a:p>
          <a:p>
            <a:pPr marL="179070" indent="-171450">
              <a:lnSpc>
                <a:spcPts val="2865"/>
              </a:lnSpc>
              <a:spcBef>
                <a:spcPts val="100"/>
              </a:spcBef>
              <a:buSzPct val="95833"/>
              <a:buFontTx/>
              <a:buChar char="•"/>
              <a:tabLst>
                <a:tab pos="179070" algn="l"/>
              </a:tabLst>
            </a:pPr>
            <a:r>
              <a:rPr lang="en-IN" sz="1800" b="1" dirty="0">
                <a:latin typeface="Cambria" panose="02040503050406030204" pitchFamily="18" charset="0"/>
                <a:ea typeface="Cambria" panose="02040503050406030204" pitchFamily="18" charset="0"/>
              </a:rPr>
              <a:t>Geo-Fencing</a:t>
            </a:r>
            <a:r>
              <a:rPr lang="en-IN" sz="1700" dirty="0">
                <a:latin typeface="Lucida Fax" panose="02060602050505020204" pitchFamily="18" charset="0"/>
                <a:ea typeface="Verdana" panose="020B0604030504040204" pitchFamily="34" charset="0"/>
              </a:rPr>
              <a:t> </a:t>
            </a:r>
            <a:r>
              <a:rPr lang="en-IN" sz="1700" spc="-10" dirty="0">
                <a:latin typeface="Lucida Fax" panose="02060602050505020204" pitchFamily="18" charset="0"/>
              </a:rPr>
              <a:t>: </a:t>
            </a:r>
            <a:r>
              <a:rPr lang="en-IN" sz="1700" dirty="0">
                <a:latin typeface="Lucida Fax" panose="02060602050505020204" pitchFamily="18" charset="0"/>
                <a:ea typeface="Verdana" panose="020B0604030504040204" pitchFamily="34" charset="0"/>
              </a:rPr>
              <a:t>Post GIS, Google Maps API</a:t>
            </a:r>
            <a:r>
              <a:rPr lang="en-IN" sz="1700" spc="-10" dirty="0">
                <a:latin typeface="Lucida Fax" panose="02060602050505020204" pitchFamily="18" charset="0"/>
              </a:rPr>
              <a:t>.</a:t>
            </a:r>
          </a:p>
          <a:p>
            <a:pPr marL="179070" indent="-171450">
              <a:lnSpc>
                <a:spcPts val="2865"/>
              </a:lnSpc>
              <a:buSzPct val="95833"/>
              <a:buChar char="•"/>
              <a:tabLst>
                <a:tab pos="179070" algn="l"/>
              </a:tabLst>
            </a:pPr>
            <a:r>
              <a:rPr lang="en-IN" sz="1800" b="1" dirty="0">
                <a:latin typeface="Cambria" panose="02040503050406030204" pitchFamily="18" charset="0"/>
                <a:ea typeface="Cambria" panose="02040503050406030204" pitchFamily="18" charset="0"/>
              </a:rPr>
              <a:t>Explainability</a:t>
            </a:r>
            <a:r>
              <a:rPr lang="en-IN" sz="1700" dirty="0">
                <a:latin typeface="Lucida Fax" panose="02060602050505020204" pitchFamily="18" charset="0"/>
              </a:rPr>
              <a:t> : </a:t>
            </a:r>
            <a:r>
              <a:rPr lang="en-IN" sz="1700" dirty="0" err="1">
                <a:latin typeface="Lucida Fax" panose="02060602050505020204" pitchFamily="18" charset="0"/>
              </a:rPr>
              <a:t>Captum</a:t>
            </a:r>
            <a:r>
              <a:rPr lang="en-IN" sz="1700" dirty="0">
                <a:latin typeface="Lucida Fax" panose="02060602050505020204" pitchFamily="18" charset="0"/>
              </a:rPr>
              <a:t>/</a:t>
            </a:r>
            <a:r>
              <a:rPr lang="en-IN" sz="1700" spc="-10" dirty="0" err="1">
                <a:latin typeface="Lucida Fax" panose="02060602050505020204" pitchFamily="18" charset="0"/>
              </a:rPr>
              <a:t>Tf</a:t>
            </a:r>
            <a:r>
              <a:rPr lang="en-IN" sz="1700" spc="-10" dirty="0">
                <a:latin typeface="Lucida Fax" panose="02060602050505020204" pitchFamily="18" charset="0"/>
              </a:rPr>
              <a:t>-explain.</a:t>
            </a:r>
          </a:p>
          <a:p>
            <a:pPr marL="179070" indent="-171450">
              <a:lnSpc>
                <a:spcPts val="2865"/>
              </a:lnSpc>
              <a:spcBef>
                <a:spcPts val="50"/>
              </a:spcBef>
              <a:buSzPct val="95833"/>
              <a:buChar char="•"/>
              <a:tabLst>
                <a:tab pos="179070" algn="l"/>
              </a:tabLst>
            </a:pPr>
            <a:r>
              <a:rPr lang="en-IN" sz="1800" b="1" dirty="0">
                <a:latin typeface="Cambria" panose="02040503050406030204" pitchFamily="18" charset="0"/>
                <a:ea typeface="Cambria" panose="02040503050406030204" pitchFamily="18" charset="0"/>
              </a:rPr>
              <a:t>Database</a:t>
            </a:r>
            <a:r>
              <a:rPr lang="en-IN" sz="1700" dirty="0">
                <a:latin typeface="Lucida Fax" panose="02060602050505020204" pitchFamily="18" charset="0"/>
              </a:rPr>
              <a:t>:</a:t>
            </a:r>
            <a:r>
              <a:rPr lang="en-IN" sz="1700" spc="-45" dirty="0">
                <a:latin typeface="Lucida Fax" panose="02060602050505020204" pitchFamily="18" charset="0"/>
              </a:rPr>
              <a:t> </a:t>
            </a:r>
            <a:r>
              <a:rPr lang="en-IN" sz="1700" dirty="0">
                <a:latin typeface="Lucida Fax" panose="02060602050505020204" pitchFamily="18" charset="0"/>
              </a:rPr>
              <a:t>MongoDB</a:t>
            </a:r>
            <a:r>
              <a:rPr lang="en-IN" sz="1700" spc="-25" dirty="0">
                <a:latin typeface="Lucida Fax" panose="02060602050505020204" pitchFamily="18" charset="0"/>
              </a:rPr>
              <a:t> </a:t>
            </a:r>
            <a:r>
              <a:rPr lang="en-IN" sz="1700" dirty="0">
                <a:latin typeface="Lucida Fax" panose="02060602050505020204" pitchFamily="18" charset="0"/>
              </a:rPr>
              <a:t>/</a:t>
            </a:r>
            <a:r>
              <a:rPr lang="en-IN" sz="1700" spc="-45" dirty="0">
                <a:latin typeface="Lucida Fax" panose="02060602050505020204" pitchFamily="18" charset="0"/>
              </a:rPr>
              <a:t> </a:t>
            </a:r>
            <a:r>
              <a:rPr lang="en-IN" sz="1700" spc="-10" dirty="0">
                <a:latin typeface="Lucida Fax" panose="02060602050505020204" pitchFamily="18" charset="0"/>
              </a:rPr>
              <a:t>PostgreSQL.</a:t>
            </a:r>
          </a:p>
          <a:p>
            <a:pPr marL="179070" indent="-171450">
              <a:lnSpc>
                <a:spcPts val="2855"/>
              </a:lnSpc>
              <a:buSzPct val="95833"/>
              <a:buChar char="•"/>
              <a:tabLst>
                <a:tab pos="179070" algn="l"/>
              </a:tabLst>
            </a:pPr>
            <a:r>
              <a:rPr lang="en-IN" sz="1800" b="1" dirty="0">
                <a:latin typeface="Cambria" panose="02040503050406030204" pitchFamily="18" charset="0"/>
                <a:ea typeface="Cambria" panose="02040503050406030204" pitchFamily="18" charset="0"/>
              </a:rPr>
              <a:t>Deployment</a:t>
            </a:r>
            <a:r>
              <a:rPr lang="en-IN" sz="1700" dirty="0">
                <a:latin typeface="Lucida Fax" panose="02060602050505020204" pitchFamily="18" charset="0"/>
              </a:rPr>
              <a:t>:</a:t>
            </a:r>
            <a:r>
              <a:rPr lang="en-IN" sz="1700" spc="-35" dirty="0">
                <a:latin typeface="Lucida Fax" panose="02060602050505020204" pitchFamily="18" charset="0"/>
              </a:rPr>
              <a:t> </a:t>
            </a:r>
            <a:r>
              <a:rPr lang="en-IN" sz="1700" dirty="0">
                <a:latin typeface="Lucida Fax" panose="02060602050505020204" pitchFamily="18" charset="0"/>
              </a:rPr>
              <a:t>Docker</a:t>
            </a:r>
            <a:r>
              <a:rPr lang="en-IN" sz="1700" spc="-45" dirty="0">
                <a:latin typeface="Lucida Fax" panose="02060602050505020204" pitchFamily="18" charset="0"/>
              </a:rPr>
              <a:t> </a:t>
            </a:r>
            <a:r>
              <a:rPr lang="en-IN" sz="1700" dirty="0">
                <a:latin typeface="Lucida Fax" panose="02060602050505020204" pitchFamily="18" charset="0"/>
              </a:rPr>
              <a:t>+</a:t>
            </a:r>
            <a:r>
              <a:rPr lang="en-IN" sz="1700" spc="-35" dirty="0">
                <a:latin typeface="Lucida Fax" panose="02060602050505020204" pitchFamily="18" charset="0"/>
              </a:rPr>
              <a:t> </a:t>
            </a:r>
            <a:r>
              <a:rPr lang="en-IN" sz="1700" spc="-10" dirty="0">
                <a:latin typeface="Lucida Fax" panose="02060602050505020204" pitchFamily="18" charset="0"/>
              </a:rPr>
              <a:t>AWS/GCP.</a:t>
            </a:r>
          </a:p>
          <a:p>
            <a:pPr marL="179070" indent="-171450">
              <a:lnSpc>
                <a:spcPts val="2870"/>
              </a:lnSpc>
              <a:buSzPct val="95833"/>
              <a:buChar char="•"/>
              <a:tabLst>
                <a:tab pos="179070" algn="l"/>
              </a:tabLst>
            </a:pPr>
            <a:r>
              <a:rPr lang="en-IN" sz="1800" b="1" dirty="0">
                <a:latin typeface="Cambria" panose="02040503050406030204" pitchFamily="18" charset="0"/>
                <a:ea typeface="Cambria" panose="02040503050406030204" pitchFamily="18" charset="0"/>
              </a:rPr>
              <a:t>Frontend</a:t>
            </a:r>
            <a:r>
              <a:rPr lang="en-IN" sz="1700" dirty="0">
                <a:latin typeface="Lucida Fax" panose="02060602050505020204" pitchFamily="18" charset="0"/>
              </a:rPr>
              <a:t>:</a:t>
            </a:r>
            <a:r>
              <a:rPr lang="en-IN" sz="1700" spc="-45" dirty="0">
                <a:latin typeface="Lucida Fax" panose="02060602050505020204" pitchFamily="18" charset="0"/>
              </a:rPr>
              <a:t> </a:t>
            </a:r>
            <a:r>
              <a:rPr lang="en-IN" sz="1700" dirty="0">
                <a:latin typeface="Lucida Fax" panose="02060602050505020204" pitchFamily="18" charset="0"/>
              </a:rPr>
              <a:t>Flutter, React.js with CSS. </a:t>
            </a:r>
            <a:endParaRPr lang="en-IN" sz="1700" spc="-10" dirty="0">
              <a:latin typeface="Lucida Fax" panose="0206060205050502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1530" rIns="0" bIns="0" rtlCol="0">
            <a:spAutoFit/>
          </a:bodyPr>
          <a:lstStyle/>
          <a:p>
            <a:pPr marL="165100">
              <a:lnSpc>
                <a:spcPct val="100000"/>
              </a:lnSpc>
              <a:spcBef>
                <a:spcPts val="125"/>
              </a:spcBef>
            </a:pPr>
            <a:r>
              <a:rPr dirty="0"/>
              <a:t>Github</a:t>
            </a:r>
            <a:r>
              <a:rPr spc="105" dirty="0"/>
              <a:t> </a:t>
            </a:r>
            <a:r>
              <a:rPr spc="-20" dirty="0"/>
              <a:t>Link</a:t>
            </a:r>
          </a:p>
        </p:txBody>
      </p:sp>
      <p:sp>
        <p:nvSpPr>
          <p:cNvPr id="3" name="object 3"/>
          <p:cNvSpPr txBox="1"/>
          <p:nvPr/>
        </p:nvSpPr>
        <p:spPr>
          <a:xfrm>
            <a:off x="1044892" y="1167764"/>
            <a:ext cx="8287384" cy="1503617"/>
          </a:xfrm>
          <a:prstGeom prst="rect">
            <a:avLst/>
          </a:prstGeom>
        </p:spPr>
        <p:txBody>
          <a:bodyPr vert="horz" wrap="square" lIns="0" tIns="13335" rIns="0" bIns="0" rtlCol="0">
            <a:spAutoFit/>
          </a:bodyPr>
          <a:lstStyle/>
          <a:p>
            <a:pPr>
              <a:lnSpc>
                <a:spcPct val="100000"/>
              </a:lnSpc>
              <a:spcBef>
                <a:spcPts val="90"/>
              </a:spcBef>
            </a:pPr>
            <a:r>
              <a:rPr lang="en-IN" sz="2400" dirty="0">
                <a:latin typeface="Cambria"/>
                <a:cs typeface="Cambria"/>
                <a:hlinkClick r:id="rId2"/>
              </a:rPr>
              <a:t>https://github.com/Nelakurthi-Sai-Sandeep-reddy/Smart-Tourist-Safety-Monitoring-Incident-Response-System-using-Al-Geo-Fencing-and-Blockchain</a:t>
            </a:r>
            <a:endParaRPr lang="en-IN" sz="2400" dirty="0">
              <a:latin typeface="Cambria"/>
              <a:cs typeface="Cambria"/>
            </a:endParaRPr>
          </a:p>
          <a:p>
            <a:pPr>
              <a:lnSpc>
                <a:spcPct val="100000"/>
              </a:lnSpc>
              <a:spcBef>
                <a:spcPts val="90"/>
              </a:spcBef>
            </a:pPr>
            <a:endParaRPr sz="2400" dirty="0">
              <a:latin typeface="Cambria"/>
              <a:cs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1530" rIns="0" bIns="0" rtlCol="0">
            <a:spAutoFit/>
          </a:bodyPr>
          <a:lstStyle/>
          <a:p>
            <a:pPr marL="165100">
              <a:lnSpc>
                <a:spcPct val="100000"/>
              </a:lnSpc>
              <a:spcBef>
                <a:spcPts val="125"/>
              </a:spcBef>
            </a:pPr>
            <a:r>
              <a:rPr dirty="0"/>
              <a:t>Analysis</a:t>
            </a:r>
            <a:r>
              <a:rPr spc="75" dirty="0"/>
              <a:t> </a:t>
            </a:r>
            <a:r>
              <a:rPr dirty="0"/>
              <a:t>of</a:t>
            </a:r>
            <a:r>
              <a:rPr spc="75" dirty="0"/>
              <a:t> </a:t>
            </a:r>
            <a:r>
              <a:rPr dirty="0"/>
              <a:t>Problem</a:t>
            </a:r>
            <a:r>
              <a:rPr spc="95" dirty="0"/>
              <a:t> </a:t>
            </a:r>
            <a:r>
              <a:rPr dirty="0"/>
              <a:t>Statement</a:t>
            </a:r>
            <a:r>
              <a:rPr spc="170" dirty="0"/>
              <a:t> </a:t>
            </a:r>
            <a:r>
              <a:rPr sz="2000" spc="-10" dirty="0"/>
              <a:t>(contd...)</a:t>
            </a:r>
            <a:endParaRPr sz="2000"/>
          </a:p>
        </p:txBody>
      </p:sp>
      <p:sp>
        <p:nvSpPr>
          <p:cNvPr id="3" name="object 3"/>
          <p:cNvSpPr txBox="1"/>
          <p:nvPr/>
        </p:nvSpPr>
        <p:spPr>
          <a:xfrm>
            <a:off x="862678" y="742687"/>
            <a:ext cx="10316210" cy="5958682"/>
          </a:xfrm>
          <a:prstGeom prst="rect">
            <a:avLst/>
          </a:prstGeom>
        </p:spPr>
        <p:txBody>
          <a:bodyPr vert="horz" wrap="square" lIns="0" tIns="133985" rIns="0" bIns="0" rtlCol="0">
            <a:spAutoFit/>
          </a:bodyPr>
          <a:lstStyle/>
          <a:p>
            <a:pPr marL="165100">
              <a:lnSpc>
                <a:spcPct val="100000"/>
              </a:lnSpc>
              <a:spcBef>
                <a:spcPts val="1055"/>
              </a:spcBef>
            </a:pPr>
            <a:r>
              <a:rPr sz="2400" b="1" dirty="0">
                <a:latin typeface="Cambria"/>
                <a:cs typeface="Cambria"/>
              </a:rPr>
              <a:t>Software</a:t>
            </a:r>
            <a:r>
              <a:rPr sz="2400" b="1" spc="-50" dirty="0">
                <a:latin typeface="Cambria"/>
                <a:cs typeface="Cambria"/>
              </a:rPr>
              <a:t> </a:t>
            </a:r>
            <a:r>
              <a:rPr sz="2400" b="1" spc="-10" dirty="0">
                <a:latin typeface="Cambria"/>
                <a:cs typeface="Cambria"/>
              </a:rPr>
              <a:t>Requirements:</a:t>
            </a:r>
            <a:endParaRPr sz="2400" dirty="0">
              <a:latin typeface="Cambria"/>
              <a:cs typeface="Cambria"/>
            </a:endParaRPr>
          </a:p>
          <a:p>
            <a:pPr marL="110489" indent="-102870">
              <a:lnSpc>
                <a:spcPct val="150000"/>
              </a:lnSpc>
              <a:spcBef>
                <a:spcPts val="900"/>
              </a:spcBef>
              <a:buSzPct val="95348"/>
              <a:buFont typeface="Arial MT"/>
              <a:buChar char="•"/>
              <a:tabLst>
                <a:tab pos="110489" algn="l"/>
              </a:tabLst>
            </a:pPr>
            <a:r>
              <a:rPr lang="en-US" b="1" dirty="0">
                <a:latin typeface="Cambria" panose="02040503050406030204" pitchFamily="18" charset="0"/>
                <a:ea typeface="Cambria" panose="02040503050406030204" pitchFamily="18" charset="0"/>
                <a:cs typeface="Arial" panose="020B0604020202020204" pitchFamily="34" charset="0"/>
              </a:rPr>
              <a:t>Operating System </a:t>
            </a:r>
            <a:r>
              <a:rPr lang="en-US" sz="2400" b="1" dirty="0">
                <a:latin typeface="Cambria" panose="02040503050406030204" pitchFamily="18" charset="0"/>
                <a:ea typeface="Cambria" panose="02040503050406030204" pitchFamily="18" charset="0"/>
                <a:cs typeface="Arial" panose="020B0604020202020204" pitchFamily="34" charset="0"/>
              </a:rPr>
              <a:t>: </a:t>
            </a:r>
            <a:r>
              <a:rPr lang="en-US" sz="1700" dirty="0">
                <a:latin typeface="Lucida Fax" panose="02060602050505020204" pitchFamily="18" charset="0"/>
              </a:rPr>
              <a:t>64-bit Windows 10/11, Ubuntu 20.04 LTS, or macOS Monterey (for development)</a:t>
            </a:r>
            <a:r>
              <a:rPr lang="en-US" sz="1700" dirty="0"/>
              <a:t> </a:t>
            </a:r>
          </a:p>
          <a:p>
            <a:pPr marL="110489" indent="-102870">
              <a:lnSpc>
                <a:spcPct val="150000"/>
              </a:lnSpc>
              <a:spcBef>
                <a:spcPts val="900"/>
              </a:spcBef>
              <a:buSzPct val="95348"/>
              <a:buFont typeface="Arial MT"/>
              <a:buChar char="•"/>
              <a:tabLst>
                <a:tab pos="110489" algn="l"/>
              </a:tabLst>
            </a:pPr>
            <a:r>
              <a:rPr lang="en-US" b="1" dirty="0">
                <a:latin typeface="Cambria" panose="02040503050406030204" pitchFamily="18" charset="0"/>
                <a:ea typeface="Cambria" panose="02040503050406030204" pitchFamily="18" charset="0"/>
                <a:cs typeface="Arial" panose="020B0604020202020204" pitchFamily="34" charset="0"/>
              </a:rPr>
              <a:t>Development Environment</a:t>
            </a:r>
            <a:r>
              <a:rPr lang="en-US" sz="1700" b="1" dirty="0">
                <a:latin typeface="Lucida Fax" panose="02060602050505020204" pitchFamily="18" charset="0"/>
                <a:ea typeface="Cambria" panose="02040503050406030204" pitchFamily="18" charset="0"/>
              </a:rPr>
              <a:t>:</a:t>
            </a:r>
            <a:r>
              <a:rPr lang="en-US" sz="1700" dirty="0">
                <a:latin typeface="Lucida Fax" panose="02060602050505020204" pitchFamily="18" charset="0"/>
                <a:ea typeface="Cambria" panose="02040503050406030204" pitchFamily="18" charset="0"/>
              </a:rPr>
              <a:t> </a:t>
            </a:r>
            <a:r>
              <a:rPr lang="en-US" sz="1700" dirty="0">
                <a:latin typeface="Lucida Fax" panose="02060602050505020204" pitchFamily="18" charset="0"/>
              </a:rPr>
              <a:t>VS Code or PyCharm with integrated support for </a:t>
            </a:r>
            <a:r>
              <a:rPr lang="en-US" sz="1700" dirty="0" err="1">
                <a:latin typeface="Lucida Fax" panose="02060602050505020204" pitchFamily="18" charset="0"/>
              </a:rPr>
              <a:t>Jupyter</a:t>
            </a:r>
            <a:r>
              <a:rPr lang="en-US" sz="1700" dirty="0">
                <a:latin typeface="Lucida Fax" panose="02060602050505020204" pitchFamily="18" charset="0"/>
              </a:rPr>
              <a:t> Notebooks</a:t>
            </a:r>
          </a:p>
          <a:p>
            <a:pPr marL="110489" indent="-102870">
              <a:lnSpc>
                <a:spcPct val="150000"/>
              </a:lnSpc>
              <a:spcBef>
                <a:spcPts val="900"/>
              </a:spcBef>
              <a:buSzPct val="95348"/>
              <a:buFont typeface="Arial MT"/>
              <a:buChar char="•"/>
              <a:tabLst>
                <a:tab pos="110489" algn="l"/>
              </a:tabLst>
            </a:pPr>
            <a:r>
              <a:rPr lang="en-US" b="1" dirty="0">
                <a:latin typeface="Cambria" panose="02040503050406030204" pitchFamily="18" charset="0"/>
                <a:ea typeface="Cambria" panose="02040503050406030204" pitchFamily="18" charset="0"/>
                <a:cs typeface="Arial" panose="020B0604020202020204" pitchFamily="34" charset="0"/>
              </a:rPr>
              <a:t>Languages</a:t>
            </a:r>
            <a:r>
              <a:rPr lang="en-US" sz="1700" b="1" dirty="0">
                <a:latin typeface="Lucida Fax" panose="02060602050505020204" pitchFamily="18" charset="0"/>
                <a:ea typeface="Cambria" panose="02040503050406030204" pitchFamily="18" charset="0"/>
              </a:rPr>
              <a:t>:</a:t>
            </a:r>
            <a:r>
              <a:rPr lang="en-US" sz="1700" dirty="0">
                <a:latin typeface="Lucida Fax" panose="02060602050505020204" pitchFamily="18" charset="0"/>
              </a:rPr>
              <a:t> Python 3.8+ (AI/Backend), Dart (Mobile), and Solidity/Go (Blockchain Smart Contracts). </a:t>
            </a:r>
          </a:p>
          <a:p>
            <a:pPr marL="110489" indent="-102870">
              <a:lnSpc>
                <a:spcPct val="150000"/>
              </a:lnSpc>
              <a:spcBef>
                <a:spcPts val="900"/>
              </a:spcBef>
              <a:buSzPct val="95348"/>
              <a:buFont typeface="Arial MT"/>
              <a:buChar char="•"/>
              <a:tabLst>
                <a:tab pos="110489" algn="l"/>
              </a:tabLst>
            </a:pPr>
            <a:r>
              <a:rPr lang="en-US" b="1" dirty="0">
                <a:latin typeface="Cambria" panose="02040503050406030204" pitchFamily="18" charset="0"/>
                <a:ea typeface="Cambria" panose="02040503050406030204" pitchFamily="18" charset="0"/>
                <a:cs typeface="Arial" panose="020B0604020202020204" pitchFamily="34" charset="0"/>
              </a:rPr>
              <a:t>Containerization</a:t>
            </a:r>
            <a:r>
              <a:rPr lang="en-US" b="1" dirty="0">
                <a:latin typeface="Cambria" panose="02040503050406030204" pitchFamily="18" charset="0"/>
                <a:ea typeface="Cambria" panose="02040503050406030204" pitchFamily="18" charset="0"/>
              </a:rPr>
              <a:t>:</a:t>
            </a:r>
            <a:r>
              <a:rPr lang="en-US" sz="2400" dirty="0"/>
              <a:t> </a:t>
            </a:r>
            <a:r>
              <a:rPr lang="en-US" sz="1700" dirty="0">
                <a:latin typeface="Lucida Fax" panose="02060602050505020204" pitchFamily="18" charset="0"/>
              </a:rPr>
              <a:t>Docker Desktop and Kubernetes for managing microservices and scaling. </a:t>
            </a:r>
            <a:r>
              <a:rPr lang="en-US" sz="2150" b="1" dirty="0">
                <a:latin typeface="Arial"/>
                <a:cs typeface="Arial"/>
              </a:rPr>
              <a:t>      </a:t>
            </a:r>
          </a:p>
          <a:p>
            <a:pPr marL="110489" indent="-102870">
              <a:lnSpc>
                <a:spcPct val="150000"/>
              </a:lnSpc>
              <a:spcBef>
                <a:spcPts val="900"/>
              </a:spcBef>
              <a:buSzPct val="95348"/>
              <a:buFont typeface="Arial MT"/>
              <a:buChar char="•"/>
              <a:tabLst>
                <a:tab pos="110489" algn="l"/>
              </a:tabLst>
            </a:pPr>
            <a:r>
              <a:rPr lang="en-US" b="1" dirty="0">
                <a:latin typeface="Cambria" panose="02040503050406030204" pitchFamily="18" charset="0"/>
                <a:ea typeface="Cambria" panose="02040503050406030204" pitchFamily="18" charset="0"/>
                <a:cs typeface="Arial" panose="020B0604020202020204" pitchFamily="34" charset="0"/>
              </a:rPr>
              <a:t>Version Control</a:t>
            </a:r>
            <a:r>
              <a:rPr lang="en-US" sz="1700" b="1" dirty="0">
                <a:latin typeface="Lucida Fax" panose="02060602050505020204" pitchFamily="18" charset="0"/>
                <a:ea typeface="Cambria" panose="02040503050406030204" pitchFamily="18" charset="0"/>
              </a:rPr>
              <a:t>:</a:t>
            </a:r>
            <a:r>
              <a:rPr lang="en-US" sz="1700" dirty="0">
                <a:latin typeface="Lucida Fax" panose="02060602050505020204" pitchFamily="18" charset="0"/>
                <a:ea typeface="Cambria" panose="02040503050406030204" pitchFamily="18" charset="0"/>
              </a:rPr>
              <a:t> </a:t>
            </a:r>
            <a:r>
              <a:rPr lang="en-US" sz="1700" dirty="0">
                <a:latin typeface="Lucida Fax" panose="02060602050505020204" pitchFamily="18" charset="0"/>
              </a:rPr>
              <a:t>Git with GitHub or GitLab for collaborative development and CI/CD pipelines. </a:t>
            </a:r>
          </a:p>
          <a:p>
            <a:pPr marL="110489" indent="-102870">
              <a:lnSpc>
                <a:spcPct val="150000"/>
              </a:lnSpc>
              <a:spcBef>
                <a:spcPts val="900"/>
              </a:spcBef>
              <a:buSzPct val="95348"/>
              <a:buFont typeface="Arial MT"/>
              <a:buChar char="•"/>
              <a:tabLst>
                <a:tab pos="110489" algn="l"/>
              </a:tabLst>
            </a:pPr>
            <a:r>
              <a:rPr lang="en-US" b="1" dirty="0">
                <a:latin typeface="Cambria" panose="02040503050406030204" pitchFamily="18" charset="0"/>
                <a:ea typeface="Cambria" panose="02040503050406030204" pitchFamily="18" charset="0"/>
              </a:rPr>
              <a:t>API Testing:</a:t>
            </a:r>
            <a:r>
              <a:rPr lang="en-US" sz="2150" dirty="0"/>
              <a:t> </a:t>
            </a:r>
            <a:r>
              <a:rPr lang="en-US" sz="1700" dirty="0">
                <a:latin typeface="Lucida Fax" panose="02060602050505020204" pitchFamily="18" charset="0"/>
              </a:rPr>
              <a:t>Postman or Insomnia for testing RESTful services and real-time WebSocket connections.</a:t>
            </a:r>
            <a:endParaRPr sz="1700" dirty="0">
              <a:latin typeface="Lucida Fax" panose="02060602050505020204" pitchFamily="18" charset="0"/>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2" name="AutoShape 2" descr="Output image">
            <a:extLst>
              <a:ext uri="{FF2B5EF4-FFF2-40B4-BE49-F238E27FC236}">
                <a16:creationId xmlns:a16="http://schemas.microsoft.com/office/drawing/2014/main" id="{615D1C85-5433-7C72-D1CA-6546DFB4989F}"/>
              </a:ext>
            </a:extLst>
          </p:cNvPr>
          <p:cNvSpPr>
            <a:spLocks noChangeAspect="1" noChangeArrowheads="1"/>
          </p:cNvSpPr>
          <p:nvPr/>
        </p:nvSpPr>
        <p:spPr bwMode="auto">
          <a:xfrm>
            <a:off x="0" y="419100"/>
            <a:ext cx="12192000" cy="601821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D6D5DBC2-E9DC-0931-6D29-6208523B5B93}"/>
              </a:ext>
            </a:extLst>
          </p:cNvPr>
          <p:cNvPicPr>
            <a:picLocks noChangeAspect="1"/>
          </p:cNvPicPr>
          <p:nvPr/>
        </p:nvPicPr>
        <p:blipFill>
          <a:blip r:embed="rId3"/>
          <a:stretch>
            <a:fillRect/>
          </a:stretch>
        </p:blipFill>
        <p:spPr>
          <a:xfrm>
            <a:off x="812800" y="1143000"/>
            <a:ext cx="7817638" cy="4687529"/>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9616" rIns="0" bIns="0" rtlCol="0">
            <a:spAutoFit/>
          </a:bodyPr>
          <a:lstStyle/>
          <a:p>
            <a:pPr marL="12700">
              <a:lnSpc>
                <a:spcPct val="100000"/>
              </a:lnSpc>
              <a:spcBef>
                <a:spcPts val="125"/>
              </a:spcBef>
            </a:pPr>
            <a:r>
              <a:rPr dirty="0"/>
              <a:t>References</a:t>
            </a:r>
            <a:r>
              <a:rPr spc="130" dirty="0"/>
              <a:t> </a:t>
            </a:r>
            <a:r>
              <a:rPr dirty="0"/>
              <a:t>(IEEE</a:t>
            </a:r>
            <a:r>
              <a:rPr spc="105" dirty="0"/>
              <a:t> </a:t>
            </a:r>
            <a:r>
              <a:rPr dirty="0"/>
              <a:t>Paper</a:t>
            </a:r>
            <a:r>
              <a:rPr spc="55" dirty="0"/>
              <a:t> </a:t>
            </a:r>
            <a:r>
              <a:rPr spc="-10" dirty="0"/>
              <a:t>format)</a:t>
            </a:r>
          </a:p>
        </p:txBody>
      </p:sp>
      <p:sp>
        <p:nvSpPr>
          <p:cNvPr id="3" name="object 3"/>
          <p:cNvSpPr txBox="1"/>
          <p:nvPr/>
        </p:nvSpPr>
        <p:spPr>
          <a:xfrm>
            <a:off x="892175" y="1371600"/>
            <a:ext cx="10614025" cy="3452868"/>
          </a:xfrm>
          <a:prstGeom prst="rect">
            <a:avLst/>
          </a:prstGeom>
        </p:spPr>
        <p:txBody>
          <a:bodyPr vert="horz" wrap="square" lIns="0" tIns="15875" rIns="0" bIns="0" rtlCol="0">
            <a:spAutoFit/>
          </a:bodyPr>
          <a:lstStyle/>
          <a:p>
            <a:pPr marL="12700" marR="1871980">
              <a:lnSpc>
                <a:spcPct val="100000"/>
              </a:lnSpc>
              <a:spcBef>
                <a:spcPts val="125"/>
              </a:spcBef>
            </a:pPr>
            <a:r>
              <a:rPr dirty="0">
                <a:latin typeface="Bookman Old Style" panose="02050604050505020204" pitchFamily="18" charset="0"/>
                <a:cs typeface="Verdana"/>
              </a:rPr>
              <a:t>[1].</a:t>
            </a:r>
            <a:r>
              <a:rPr spc="-60" dirty="0">
                <a:latin typeface="Bookman Old Style" panose="02050604050505020204" pitchFamily="18" charset="0"/>
                <a:cs typeface="Verdana"/>
              </a:rPr>
              <a:t> </a:t>
            </a:r>
            <a:r>
              <a:rPr lang="en-IN" dirty="0">
                <a:latin typeface="Bookman Old Style" panose="02050604050505020204" pitchFamily="18" charset="0"/>
                <a:ea typeface="Verdana" panose="020B0604030504040204" pitchFamily="34" charset="0"/>
              </a:rPr>
              <a:t>Chaudhuri, R., Chatterjee, S., &amp; </a:t>
            </a:r>
            <a:r>
              <a:rPr lang="en-IN" dirty="0" err="1">
                <a:latin typeface="Bookman Old Style" panose="02050604050505020204" pitchFamily="18" charset="0"/>
                <a:ea typeface="Verdana" panose="020B0604030504040204" pitchFamily="34" charset="0"/>
              </a:rPr>
              <a:t>Vrontis</a:t>
            </a:r>
            <a:r>
              <a:rPr lang="en-IN" dirty="0">
                <a:latin typeface="Bookman Old Style" panose="02050604050505020204" pitchFamily="18" charset="0"/>
                <a:ea typeface="Verdana" panose="020B0604030504040204" pitchFamily="34" charset="0"/>
              </a:rPr>
              <a:t>, D. (2024). </a:t>
            </a:r>
            <a:r>
              <a:rPr lang="en-IN" i="1" dirty="0">
                <a:latin typeface="Bookman Old Style" panose="02050604050505020204" pitchFamily="18" charset="0"/>
                <a:ea typeface="Verdana" panose="020B0604030504040204" pitchFamily="34" charset="0"/>
              </a:rPr>
              <a:t>Blockchain technology for protecting and validating transactions in the travel and tourism sector.</a:t>
            </a:r>
            <a:r>
              <a:rPr lang="en-IN" dirty="0">
                <a:latin typeface="Bookman Old Style" panose="02050604050505020204" pitchFamily="18" charset="0"/>
                <a:ea typeface="Verdana" panose="020B0604030504040204" pitchFamily="34" charset="0"/>
              </a:rPr>
              <a:t> Revista de </a:t>
            </a:r>
            <a:r>
              <a:rPr lang="en-IN" dirty="0" err="1">
                <a:latin typeface="Bookman Old Style" panose="02050604050505020204" pitchFamily="18" charset="0"/>
                <a:ea typeface="Verdana" panose="020B0604030504040204" pitchFamily="34" charset="0"/>
              </a:rPr>
              <a:t>Gestão</a:t>
            </a:r>
            <a:r>
              <a:rPr lang="en-IN" dirty="0">
                <a:latin typeface="Bookman Old Style" panose="02050604050505020204" pitchFamily="18" charset="0"/>
                <a:ea typeface="Verdana" panose="020B0604030504040204" pitchFamily="34" charset="0"/>
              </a:rPr>
              <a:t>, Emerald Publishing. [Focus: Fraud reduction and data privacy].</a:t>
            </a:r>
          </a:p>
          <a:p>
            <a:pPr marL="12700" marR="1871980">
              <a:lnSpc>
                <a:spcPct val="100000"/>
              </a:lnSpc>
              <a:spcBef>
                <a:spcPts val="125"/>
              </a:spcBef>
            </a:pPr>
            <a:endParaRPr lang="en-IN" sz="2000" dirty="0">
              <a:latin typeface="Verdana"/>
              <a:cs typeface="Verdana"/>
            </a:endParaRPr>
          </a:p>
          <a:p>
            <a:pPr marL="12700" marR="1871980">
              <a:spcBef>
                <a:spcPts val="125"/>
              </a:spcBef>
            </a:pPr>
            <a:r>
              <a:rPr dirty="0">
                <a:latin typeface="Bookman Old Style" panose="02050604050505020204" pitchFamily="18" charset="0"/>
                <a:cs typeface="Verdana"/>
              </a:rPr>
              <a:t>[2].</a:t>
            </a:r>
            <a:r>
              <a:rPr lang="en-US" b="1" dirty="0">
                <a:latin typeface="Bookman Old Style" panose="02050604050505020204" pitchFamily="18" charset="0"/>
              </a:rPr>
              <a:t> </a:t>
            </a:r>
            <a:r>
              <a:rPr lang="en-US" dirty="0" err="1">
                <a:latin typeface="Bookman Old Style" panose="02050604050505020204" pitchFamily="18" charset="0"/>
                <a:ea typeface="Verdana" panose="020B0604030504040204" pitchFamily="34" charset="0"/>
              </a:rPr>
              <a:t>Wörndl</a:t>
            </a:r>
            <a:r>
              <a:rPr lang="en-US" dirty="0">
                <a:latin typeface="Bookman Old Style" panose="02050604050505020204" pitchFamily="18" charset="0"/>
                <a:ea typeface="Verdana" panose="020B0604030504040204" pitchFamily="34" charset="0"/>
              </a:rPr>
              <a:t>, W., &amp; Herzog, D. (2020):</a:t>
            </a:r>
            <a:r>
              <a:rPr lang="en-US" i="1" dirty="0">
                <a:latin typeface="Bookman Old Style" panose="02050604050505020204" pitchFamily="18" charset="0"/>
                <a:ea typeface="Verdana" panose="020B0604030504040204" pitchFamily="34" charset="0"/>
              </a:rPr>
              <a:t>Smart tourism service systems based on IoT and machine learning for      optimized resource utilization.</a:t>
            </a:r>
            <a:r>
              <a:rPr lang="en-US" dirty="0">
                <a:latin typeface="Bookman Old Style" panose="02050604050505020204" pitchFamily="18" charset="0"/>
                <a:ea typeface="Verdana" panose="020B0604030504040204" pitchFamily="34" charset="0"/>
              </a:rPr>
              <a:t> Journal of Intelligent &amp; Fuzzy Systems. [Focus: Safety monitoring in rural areas].</a:t>
            </a:r>
          </a:p>
          <a:p>
            <a:pPr marL="12700" marR="1871980">
              <a:spcBef>
                <a:spcPts val="125"/>
              </a:spcBef>
            </a:pPr>
            <a:endParaRPr lang="en-US" sz="2000" dirty="0">
              <a:latin typeface="Verdana" panose="020B0604030504040204" pitchFamily="34" charset="0"/>
              <a:ea typeface="Verdana" panose="020B0604030504040204" pitchFamily="34" charset="0"/>
            </a:endParaRPr>
          </a:p>
          <a:p>
            <a:pPr marL="12700" marR="1871980">
              <a:lnSpc>
                <a:spcPct val="100000"/>
              </a:lnSpc>
              <a:spcBef>
                <a:spcPts val="125"/>
              </a:spcBef>
            </a:pPr>
            <a:r>
              <a:rPr lang="en-US" dirty="0">
                <a:latin typeface="Verdana" panose="020B0604030504040204" pitchFamily="34" charset="0"/>
                <a:ea typeface="Verdana" panose="020B0604030504040204" pitchFamily="34" charset="0"/>
              </a:rPr>
              <a:t> </a:t>
            </a:r>
            <a:r>
              <a:rPr spc="-20" dirty="0">
                <a:latin typeface="Bookman Old Style" panose="02050604050505020204" pitchFamily="18" charset="0"/>
                <a:cs typeface="Verdana"/>
              </a:rPr>
              <a:t>[3].</a:t>
            </a:r>
            <a:r>
              <a:rPr lang="en-US" dirty="0">
                <a:latin typeface="Bookman Old Style" panose="02050604050505020204" pitchFamily="18" charset="0"/>
                <a:ea typeface="Verdana" panose="020B0604030504040204" pitchFamily="34" charset="0"/>
              </a:rPr>
              <a:t>Gear Smiths Team (2025). </a:t>
            </a:r>
            <a:r>
              <a:rPr lang="en-US" i="1" dirty="0">
                <a:latin typeface="Bookman Old Style" panose="02050604050505020204" pitchFamily="18" charset="0"/>
                <a:ea typeface="Verdana" panose="020B0604030504040204" pitchFamily="34" charset="0"/>
              </a:rPr>
              <a:t>SIH2K25: Smart Tourist Safety Monitoring and Incident Response System.</a:t>
            </a:r>
            <a:r>
              <a:rPr lang="en-US" dirty="0">
                <a:latin typeface="Bookman Old Style" panose="02050604050505020204" pitchFamily="18" charset="0"/>
                <a:ea typeface="Verdana" panose="020B0604030504040204" pitchFamily="34" charset="0"/>
              </a:rPr>
              <a:t> Ministry of Tourism &amp; Home Affairs Presentation. [Focus: Real-time location tracking and admin dashboards].</a:t>
            </a:r>
            <a:endParaRPr dirty="0">
              <a:latin typeface="Bookman Old Style" panose="02050604050505020204" pitchFamily="18" charset="0"/>
              <a:ea typeface="Verdana" panose="020B0604030504040204" pitchFamily="34" charset="0"/>
              <a:cs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9616" rIns="0" bIns="0" rtlCol="0">
            <a:spAutoFit/>
          </a:bodyPr>
          <a:lstStyle/>
          <a:p>
            <a:pPr marL="12700">
              <a:lnSpc>
                <a:spcPct val="100000"/>
              </a:lnSpc>
              <a:spcBef>
                <a:spcPts val="125"/>
              </a:spcBef>
            </a:pPr>
            <a:r>
              <a:rPr dirty="0"/>
              <a:t>References</a:t>
            </a:r>
            <a:r>
              <a:rPr spc="130" dirty="0"/>
              <a:t> </a:t>
            </a:r>
            <a:r>
              <a:rPr dirty="0"/>
              <a:t>(IEEE</a:t>
            </a:r>
            <a:r>
              <a:rPr spc="105" dirty="0"/>
              <a:t> </a:t>
            </a:r>
            <a:r>
              <a:rPr dirty="0"/>
              <a:t>Paper</a:t>
            </a:r>
            <a:r>
              <a:rPr spc="55" dirty="0"/>
              <a:t> </a:t>
            </a:r>
            <a:r>
              <a:rPr spc="-10" dirty="0"/>
              <a:t>format)</a:t>
            </a:r>
          </a:p>
        </p:txBody>
      </p:sp>
      <p:sp>
        <p:nvSpPr>
          <p:cNvPr id="3" name="object 3"/>
          <p:cNvSpPr txBox="1"/>
          <p:nvPr/>
        </p:nvSpPr>
        <p:spPr>
          <a:xfrm>
            <a:off x="892175" y="1447800"/>
            <a:ext cx="9470390" cy="4753224"/>
          </a:xfrm>
          <a:prstGeom prst="rect">
            <a:avLst/>
          </a:prstGeom>
        </p:spPr>
        <p:txBody>
          <a:bodyPr vert="horz" wrap="square" lIns="0" tIns="15875" rIns="0" bIns="0" rtlCol="0">
            <a:spAutoFit/>
          </a:bodyPr>
          <a:lstStyle/>
          <a:p>
            <a:pPr marL="12700" marR="1871980">
              <a:lnSpc>
                <a:spcPct val="100000"/>
              </a:lnSpc>
              <a:spcBef>
                <a:spcPts val="125"/>
              </a:spcBef>
            </a:pPr>
            <a:r>
              <a:rPr dirty="0">
                <a:latin typeface="Verdana"/>
                <a:cs typeface="Verdana"/>
              </a:rPr>
              <a:t>[</a:t>
            </a:r>
            <a:r>
              <a:rPr lang="en-IN" dirty="0">
                <a:latin typeface="Verdana"/>
                <a:cs typeface="Verdana"/>
              </a:rPr>
              <a:t>4</a:t>
            </a:r>
            <a:r>
              <a:rPr dirty="0">
                <a:latin typeface="Verdana"/>
                <a:cs typeface="Verdana"/>
              </a:rPr>
              <a:t>].</a:t>
            </a:r>
            <a:r>
              <a:rPr lang="en-US" dirty="0"/>
              <a:t> D. S. Gamage and D. I. De Silva, “Blockchain–AI–Geolocation Integrated Architecture for Mobile Identity and Verification,” </a:t>
            </a:r>
            <a:r>
              <a:rPr lang="en-US" i="1" dirty="0"/>
              <a:t>Future Internet</a:t>
            </a:r>
            <a:r>
              <a:rPr lang="en-US" dirty="0"/>
              <a:t>, vol. 17, no. 12, pp. 1–18, 2025.</a:t>
            </a:r>
            <a:endParaRPr lang="en-IN" dirty="0">
              <a:latin typeface="Verdana" panose="020B0604030504040204" pitchFamily="34" charset="0"/>
              <a:ea typeface="Verdana" panose="020B0604030504040204" pitchFamily="34" charset="0"/>
            </a:endParaRPr>
          </a:p>
          <a:p>
            <a:pPr marL="12700" marR="1871980">
              <a:lnSpc>
                <a:spcPct val="100000"/>
              </a:lnSpc>
              <a:spcBef>
                <a:spcPts val="125"/>
              </a:spcBef>
            </a:pPr>
            <a:endParaRPr lang="en-IN" sz="2000" dirty="0">
              <a:latin typeface="Verdana"/>
              <a:cs typeface="Verdana"/>
            </a:endParaRPr>
          </a:p>
          <a:p>
            <a:pPr marL="12700" marR="1871980">
              <a:spcBef>
                <a:spcPts val="125"/>
              </a:spcBef>
            </a:pPr>
            <a:r>
              <a:rPr dirty="0">
                <a:latin typeface="Bookman Old Style" panose="02050604050505020204" pitchFamily="18" charset="0"/>
                <a:cs typeface="Verdana"/>
              </a:rPr>
              <a:t>[</a:t>
            </a:r>
            <a:r>
              <a:rPr lang="en-IN" dirty="0">
                <a:latin typeface="Bookman Old Style" panose="02050604050505020204" pitchFamily="18" charset="0"/>
                <a:cs typeface="Verdana"/>
              </a:rPr>
              <a:t>5</a:t>
            </a:r>
            <a:r>
              <a:rPr dirty="0">
                <a:latin typeface="Bookman Old Style" panose="02050604050505020204" pitchFamily="18" charset="0"/>
                <a:cs typeface="Verdana"/>
              </a:rPr>
              <a:t>].</a:t>
            </a:r>
            <a:r>
              <a:rPr lang="en-US" b="1" dirty="0">
                <a:latin typeface="Bookman Old Style" panose="02050604050505020204" pitchFamily="18" charset="0"/>
              </a:rPr>
              <a:t> </a:t>
            </a:r>
            <a:r>
              <a:rPr lang="en-IN" dirty="0">
                <a:latin typeface="Bookman Old Style" panose="02050604050505020204" pitchFamily="18" charset="0"/>
              </a:rPr>
              <a:t>A. Kontogianni, E. </a:t>
            </a:r>
            <a:r>
              <a:rPr lang="en-IN" dirty="0" err="1">
                <a:latin typeface="Bookman Old Style" panose="02050604050505020204" pitchFamily="18" charset="0"/>
              </a:rPr>
              <a:t>Alepis</a:t>
            </a:r>
            <a:r>
              <a:rPr lang="en-IN" dirty="0">
                <a:latin typeface="Bookman Old Style" panose="02050604050505020204" pitchFamily="18" charset="0"/>
              </a:rPr>
              <a:t>, M. </a:t>
            </a:r>
            <a:r>
              <a:rPr lang="en-IN" dirty="0" err="1">
                <a:latin typeface="Bookman Old Style" panose="02050604050505020204" pitchFamily="18" charset="0"/>
              </a:rPr>
              <a:t>Virvou</a:t>
            </a:r>
            <a:r>
              <a:rPr lang="en-IN" dirty="0">
                <a:latin typeface="Bookman Old Style" panose="02050604050505020204" pitchFamily="18" charset="0"/>
              </a:rPr>
              <a:t>, and C. </a:t>
            </a:r>
            <a:r>
              <a:rPr lang="en-IN" dirty="0" err="1">
                <a:latin typeface="Bookman Old Style" panose="02050604050505020204" pitchFamily="18" charset="0"/>
              </a:rPr>
              <a:t>Patsakis</a:t>
            </a:r>
            <a:r>
              <a:rPr lang="en-IN" dirty="0">
                <a:latin typeface="Bookman Old Style" panose="02050604050505020204" pitchFamily="18" charset="0"/>
              </a:rPr>
              <a:t>, </a:t>
            </a:r>
            <a:r>
              <a:rPr lang="en-IN" i="1" dirty="0">
                <a:latin typeface="Bookman Old Style" panose="02050604050505020204" pitchFamily="18" charset="0"/>
              </a:rPr>
              <a:t>Smart Tourism: The Impact of Artificial Intelligence and Blockchain</a:t>
            </a:r>
            <a:r>
              <a:rPr lang="en-IN" dirty="0">
                <a:latin typeface="Bookman Old Style" panose="02050604050505020204" pitchFamily="18" charset="0"/>
              </a:rPr>
              <a:t>. Cham, Switzerland: Springer Nature, 2024.</a:t>
            </a:r>
          </a:p>
          <a:p>
            <a:pPr marL="12700" marR="1871980">
              <a:spcBef>
                <a:spcPts val="125"/>
              </a:spcBef>
            </a:pPr>
            <a:endParaRPr lang="en-US" sz="2000" dirty="0">
              <a:latin typeface="Verdana" panose="020B0604030504040204" pitchFamily="34" charset="0"/>
              <a:ea typeface="Verdana" panose="020B0604030504040204" pitchFamily="34" charset="0"/>
            </a:endParaRPr>
          </a:p>
          <a:p>
            <a:pPr marL="12700" marR="1871980">
              <a:lnSpc>
                <a:spcPct val="100000"/>
              </a:lnSpc>
              <a:spcBef>
                <a:spcPts val="125"/>
              </a:spcBef>
            </a:pPr>
            <a:r>
              <a:rPr spc="-20" dirty="0">
                <a:latin typeface="Bookman Old Style" panose="02050604050505020204" pitchFamily="18" charset="0"/>
                <a:cs typeface="Verdana"/>
              </a:rPr>
              <a:t>[</a:t>
            </a:r>
            <a:r>
              <a:rPr lang="en-IN" spc="-20" dirty="0">
                <a:latin typeface="Bookman Old Style" panose="02050604050505020204" pitchFamily="18" charset="0"/>
                <a:cs typeface="Verdana"/>
              </a:rPr>
              <a:t>6</a:t>
            </a:r>
            <a:r>
              <a:rPr spc="-20" dirty="0">
                <a:latin typeface="Bookman Old Style" panose="02050604050505020204" pitchFamily="18" charset="0"/>
                <a:cs typeface="Verdana"/>
              </a:rPr>
              <a:t>].</a:t>
            </a:r>
            <a:r>
              <a:rPr lang="en-US" dirty="0">
                <a:latin typeface="Bookman Old Style" panose="02050604050505020204" pitchFamily="18" charset="0"/>
              </a:rPr>
              <a:t> “Geo-Fencing Technology to Establish Safety Zones,” </a:t>
            </a:r>
            <a:r>
              <a:rPr lang="en-US" i="1" dirty="0">
                <a:latin typeface="Bookman Old Style" panose="02050604050505020204" pitchFamily="18" charset="0"/>
              </a:rPr>
              <a:t>Journal of Emerging Technologies and Innovative Research (JETIR)</a:t>
            </a:r>
            <a:r>
              <a:rPr lang="en-US" dirty="0">
                <a:latin typeface="Bookman Old Style" panose="02050604050505020204" pitchFamily="18" charset="0"/>
              </a:rPr>
              <a:t>, vol. 12, no. 3, pp. 1–6, Mar. 2025.</a:t>
            </a:r>
          </a:p>
          <a:p>
            <a:pPr marL="12700" marR="1871980">
              <a:lnSpc>
                <a:spcPct val="100000"/>
              </a:lnSpc>
              <a:spcBef>
                <a:spcPts val="125"/>
              </a:spcBef>
            </a:pPr>
            <a:endParaRPr lang="en-US" sz="2000" dirty="0"/>
          </a:p>
          <a:p>
            <a:pPr marL="12700" marR="1871980">
              <a:lnSpc>
                <a:spcPct val="100000"/>
              </a:lnSpc>
              <a:spcBef>
                <a:spcPts val="125"/>
              </a:spcBef>
            </a:pPr>
            <a:r>
              <a:rPr lang="en-US" dirty="0">
                <a:latin typeface="Bookman Old Style" panose="02050604050505020204" pitchFamily="18" charset="0"/>
              </a:rPr>
              <a:t>[7]“Advancements in Digital Safety Technologies for Tourism,” </a:t>
            </a:r>
            <a:r>
              <a:rPr lang="en-US" i="1" dirty="0">
                <a:latin typeface="Bookman Old Style" panose="02050604050505020204" pitchFamily="18" charset="0"/>
              </a:rPr>
              <a:t>International Journal of Research and Innovation in Social Science (IJRISS)</a:t>
            </a:r>
            <a:r>
              <a:rPr lang="en-US" dirty="0">
                <a:latin typeface="Bookman Old Style" panose="02050604050505020204" pitchFamily="18" charset="0"/>
              </a:rPr>
              <a:t>, vol. 9, no. 14, pp. 1235–1262, 2025.</a:t>
            </a:r>
            <a:endParaRPr lang="en-US" dirty="0">
              <a:latin typeface="Bookman Old Style" panose="02050604050505020204" pitchFamily="18" charset="0"/>
              <a:ea typeface="Verdana" panose="020B0604030504040204" pitchFamily="34" charset="0"/>
              <a:cs typeface="Verdana"/>
            </a:endParaRPr>
          </a:p>
          <a:p>
            <a:pPr marL="12700" marR="1871980">
              <a:lnSpc>
                <a:spcPct val="100000"/>
              </a:lnSpc>
              <a:spcBef>
                <a:spcPts val="125"/>
              </a:spcBef>
            </a:pPr>
            <a:endParaRPr sz="2000" dirty="0">
              <a:latin typeface="Verdana" panose="020B0604030504040204" pitchFamily="34" charset="0"/>
              <a:ea typeface="Verdana" panose="020B0604030504040204" pitchFamily="34" charset="0"/>
              <a:cs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425FC-9DB2-9F03-1D18-0B6C38E761D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CFB260B-840F-3873-5B0D-B22A453F17A9}"/>
              </a:ext>
            </a:extLst>
          </p:cNvPr>
          <p:cNvSpPr txBox="1">
            <a:spLocks noGrp="1"/>
          </p:cNvSpPr>
          <p:nvPr>
            <p:ph type="title"/>
          </p:nvPr>
        </p:nvSpPr>
        <p:spPr>
          <a:prstGeom prst="rect">
            <a:avLst/>
          </a:prstGeom>
        </p:spPr>
        <p:txBody>
          <a:bodyPr vert="horz" wrap="square" lIns="0" tIns="229616" rIns="0" bIns="0" rtlCol="0">
            <a:spAutoFit/>
          </a:bodyPr>
          <a:lstStyle/>
          <a:p>
            <a:pPr marL="12700">
              <a:lnSpc>
                <a:spcPct val="100000"/>
              </a:lnSpc>
              <a:spcBef>
                <a:spcPts val="125"/>
              </a:spcBef>
            </a:pPr>
            <a:r>
              <a:rPr dirty="0"/>
              <a:t>References</a:t>
            </a:r>
            <a:r>
              <a:rPr spc="130" dirty="0"/>
              <a:t> </a:t>
            </a:r>
            <a:r>
              <a:rPr dirty="0"/>
              <a:t>(IEEE</a:t>
            </a:r>
            <a:r>
              <a:rPr spc="105" dirty="0"/>
              <a:t> </a:t>
            </a:r>
            <a:r>
              <a:rPr dirty="0"/>
              <a:t>Paper</a:t>
            </a:r>
            <a:r>
              <a:rPr spc="55" dirty="0"/>
              <a:t> </a:t>
            </a:r>
            <a:r>
              <a:rPr spc="-10" dirty="0"/>
              <a:t>format)</a:t>
            </a:r>
          </a:p>
        </p:txBody>
      </p:sp>
      <p:sp>
        <p:nvSpPr>
          <p:cNvPr id="3" name="object 3">
            <a:extLst>
              <a:ext uri="{FF2B5EF4-FFF2-40B4-BE49-F238E27FC236}">
                <a16:creationId xmlns:a16="http://schemas.microsoft.com/office/drawing/2014/main" id="{D0AB11F2-855F-393F-C930-CAD4104C5312}"/>
              </a:ext>
            </a:extLst>
          </p:cNvPr>
          <p:cNvSpPr txBox="1"/>
          <p:nvPr/>
        </p:nvSpPr>
        <p:spPr>
          <a:xfrm>
            <a:off x="892175" y="1388377"/>
            <a:ext cx="9470390" cy="3742691"/>
          </a:xfrm>
          <a:prstGeom prst="rect">
            <a:avLst/>
          </a:prstGeom>
        </p:spPr>
        <p:txBody>
          <a:bodyPr vert="horz" wrap="square" lIns="0" tIns="15875" rIns="0" bIns="0" rtlCol="0">
            <a:spAutoFit/>
          </a:bodyPr>
          <a:lstStyle/>
          <a:p>
            <a:pPr marL="12700" marR="1871980">
              <a:lnSpc>
                <a:spcPct val="100000"/>
              </a:lnSpc>
              <a:spcBef>
                <a:spcPts val="125"/>
              </a:spcBef>
            </a:pPr>
            <a:r>
              <a:rPr dirty="0">
                <a:latin typeface="Bookman Old Style" panose="02050604050505020204" pitchFamily="18" charset="0"/>
                <a:cs typeface="Verdana"/>
              </a:rPr>
              <a:t>[</a:t>
            </a:r>
            <a:r>
              <a:rPr lang="en-IN" dirty="0">
                <a:latin typeface="Bookman Old Style" panose="02050604050505020204" pitchFamily="18" charset="0"/>
                <a:cs typeface="Verdana"/>
              </a:rPr>
              <a:t>8</a:t>
            </a:r>
            <a:r>
              <a:rPr dirty="0">
                <a:latin typeface="Bookman Old Style" panose="02050604050505020204" pitchFamily="18" charset="0"/>
                <a:cs typeface="Verdana"/>
              </a:rPr>
              <a:t>].</a:t>
            </a:r>
            <a:r>
              <a:rPr lang="en-US" dirty="0">
                <a:latin typeface="Bookman Old Style" panose="02050604050505020204" pitchFamily="18" charset="0"/>
              </a:rPr>
              <a:t> R. Islam, R. Bose, S. Roy, et al., “A Decentralized Trust Framework for Smart Cities,” </a:t>
            </a:r>
            <a:r>
              <a:rPr lang="en-US" i="1" dirty="0">
                <a:latin typeface="Bookman Old Style" panose="02050604050505020204" pitchFamily="18" charset="0"/>
              </a:rPr>
              <a:t>Scientific Reports</a:t>
            </a:r>
            <a:r>
              <a:rPr lang="en-US" dirty="0">
                <a:latin typeface="Bookman Old Style" panose="02050604050505020204" pitchFamily="18" charset="0"/>
              </a:rPr>
              <a:t>, vol. 15, no. 1, pp. 1–12, 2025.</a:t>
            </a:r>
          </a:p>
          <a:p>
            <a:pPr marL="12700" marR="1871980">
              <a:lnSpc>
                <a:spcPct val="100000"/>
              </a:lnSpc>
              <a:spcBef>
                <a:spcPts val="125"/>
              </a:spcBef>
            </a:pPr>
            <a:endParaRPr lang="en-IN" sz="2000" dirty="0">
              <a:latin typeface="Verdana"/>
              <a:cs typeface="Verdana"/>
            </a:endParaRPr>
          </a:p>
          <a:p>
            <a:pPr marL="12700" marR="1871980">
              <a:spcBef>
                <a:spcPts val="125"/>
              </a:spcBef>
            </a:pPr>
            <a:r>
              <a:rPr dirty="0">
                <a:latin typeface="Bookman Old Style" panose="02050604050505020204" pitchFamily="18" charset="0"/>
                <a:cs typeface="Verdana"/>
              </a:rPr>
              <a:t>[</a:t>
            </a:r>
            <a:r>
              <a:rPr lang="en-IN" dirty="0">
                <a:latin typeface="Bookman Old Style" panose="02050604050505020204" pitchFamily="18" charset="0"/>
                <a:cs typeface="Verdana"/>
              </a:rPr>
              <a:t>9</a:t>
            </a:r>
            <a:r>
              <a:rPr dirty="0">
                <a:latin typeface="Bookman Old Style" panose="02050604050505020204" pitchFamily="18" charset="0"/>
                <a:cs typeface="Verdana"/>
              </a:rPr>
              <a:t>].</a:t>
            </a:r>
            <a:r>
              <a:rPr lang="en-US" b="1" dirty="0">
                <a:latin typeface="Bookman Old Style" panose="02050604050505020204" pitchFamily="18" charset="0"/>
              </a:rPr>
              <a:t> </a:t>
            </a:r>
            <a:r>
              <a:rPr lang="en-US" dirty="0">
                <a:latin typeface="Bookman Old Style" panose="02050604050505020204" pitchFamily="18" charset="0"/>
              </a:rPr>
              <a:t>L. Peng and Y. Chen, “Tourism safety monitoring information service system based on Internet of Things and block-chain,” </a:t>
            </a:r>
            <a:r>
              <a:rPr lang="en-US" i="1" dirty="0">
                <a:latin typeface="Bookman Old Style" panose="02050604050505020204" pitchFamily="18" charset="0"/>
              </a:rPr>
              <a:t>Journal of Intelligent &amp; Fuzzy Systems</a:t>
            </a:r>
            <a:r>
              <a:rPr lang="en-US" dirty="0">
                <a:latin typeface="Bookman Old Style" panose="02050604050505020204" pitchFamily="18" charset="0"/>
              </a:rPr>
              <a:t>, June 2021.</a:t>
            </a:r>
          </a:p>
          <a:p>
            <a:pPr marL="12700" marR="1871980">
              <a:spcBef>
                <a:spcPts val="125"/>
              </a:spcBef>
            </a:pPr>
            <a:endParaRPr lang="en-US" dirty="0">
              <a:latin typeface="Bookman Old Style" panose="02050604050505020204" pitchFamily="18" charset="0"/>
              <a:ea typeface="Verdana" panose="020B0604030504040204" pitchFamily="34" charset="0"/>
            </a:endParaRPr>
          </a:p>
          <a:p>
            <a:pPr marL="12700" marR="1871980">
              <a:lnSpc>
                <a:spcPct val="100000"/>
              </a:lnSpc>
              <a:spcBef>
                <a:spcPts val="125"/>
              </a:spcBef>
            </a:pPr>
            <a:r>
              <a:rPr spc="-20" dirty="0">
                <a:latin typeface="Bookman Old Style" panose="02050604050505020204" pitchFamily="18" charset="0"/>
                <a:cs typeface="Verdana"/>
              </a:rPr>
              <a:t>[</a:t>
            </a:r>
            <a:r>
              <a:rPr lang="en-IN" spc="-20" dirty="0">
                <a:latin typeface="Bookman Old Style" panose="02050604050505020204" pitchFamily="18" charset="0"/>
                <a:cs typeface="Verdana"/>
              </a:rPr>
              <a:t>10</a:t>
            </a:r>
            <a:r>
              <a:rPr spc="-20" dirty="0">
                <a:latin typeface="Bookman Old Style" panose="02050604050505020204" pitchFamily="18" charset="0"/>
                <a:cs typeface="Verdana"/>
              </a:rPr>
              <a:t>].</a:t>
            </a:r>
            <a:r>
              <a:rPr lang="en-US" dirty="0">
                <a:latin typeface="Bookman Old Style" panose="02050604050505020204" pitchFamily="18" charset="0"/>
              </a:rPr>
              <a:t> U. Salunkhe, C. Kumar, and S. J. Khare, “Block Chain Intervention in the Tourism Industry: A Systematic Review,” </a:t>
            </a:r>
            <a:r>
              <a:rPr lang="en-US" i="1" dirty="0">
                <a:latin typeface="Bookman Old Style" panose="02050604050505020204" pitchFamily="18" charset="0"/>
              </a:rPr>
              <a:t>Academy of Marketing Studies Journal</a:t>
            </a:r>
            <a:r>
              <a:rPr lang="en-US" dirty="0">
                <a:latin typeface="Bookman Old Style" panose="02050604050505020204" pitchFamily="18" charset="0"/>
              </a:rPr>
              <a:t>, vol. 28, no. 2, pp. 1–9, 2024.</a:t>
            </a:r>
          </a:p>
          <a:p>
            <a:pPr marL="12700" marR="1871980">
              <a:lnSpc>
                <a:spcPct val="100000"/>
              </a:lnSpc>
              <a:spcBef>
                <a:spcPts val="125"/>
              </a:spcBef>
            </a:pPr>
            <a:endParaRPr sz="2000" dirty="0">
              <a:latin typeface="Verdana" panose="020B0604030504040204" pitchFamily="34" charset="0"/>
              <a:ea typeface="Verdana" panose="020B0604030504040204" pitchFamily="34" charset="0"/>
              <a:cs typeface="Verdana"/>
            </a:endParaRPr>
          </a:p>
        </p:txBody>
      </p:sp>
    </p:spTree>
    <p:extLst>
      <p:ext uri="{BB962C8B-B14F-4D97-AF65-F5344CB8AC3E}">
        <p14:creationId xmlns:p14="http://schemas.microsoft.com/office/powerpoint/2010/main" val="1907802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6225" y="1438275"/>
            <a:ext cx="3886200" cy="39338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8289</TotalTime>
  <Words>1204</Words>
  <Application>Microsoft Office PowerPoint</Application>
  <PresentationFormat>Widescreen</PresentationFormat>
  <Paragraphs>86</Paragraphs>
  <Slides>13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Arial MT</vt:lpstr>
      <vt:lpstr>Bookman Old Style</vt:lpstr>
      <vt:lpstr>Calibri</vt:lpstr>
      <vt:lpstr>Cambria</vt:lpstr>
      <vt:lpstr>Lucida Fax</vt:lpstr>
      <vt:lpstr>Verdana</vt:lpstr>
      <vt:lpstr>Office Theme</vt:lpstr>
      <vt:lpstr>           Capstone Project  Review-1</vt:lpstr>
      <vt:lpstr>Problem Statement Number:</vt:lpstr>
      <vt:lpstr>Content</vt:lpstr>
      <vt:lpstr>Background and Related work for title Selection</vt:lpstr>
      <vt:lpstr>Analysis of Problem Statement</vt:lpstr>
      <vt:lpstr>Technology Stack Components:</vt:lpstr>
      <vt:lpstr>Github Link</vt:lpstr>
      <vt:lpstr>Analysis of Problem Statement (contd...)</vt:lpstr>
      <vt:lpstr>Timeline of the Project (Gantt Chart)</vt:lpstr>
      <vt:lpstr>References (IEEE Paper format)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Harshith K R</dc:creator>
  <cp:lastModifiedBy>Harshith K R</cp:lastModifiedBy>
  <cp:revision>9</cp:revision>
  <dcterms:created xsi:type="dcterms:W3CDTF">2025-08-12T15:51:44Z</dcterms:created>
  <dcterms:modified xsi:type="dcterms:W3CDTF">2026-01-29T11:08:19Z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2025-08-12T00:00:00Z</vt:filetime>
  </property>
  <property fmtid="{D5CDD505-2E9C-101B-9397-08002B2CF9AE}" pid="3" name="LastSaved">
    <vt:filetime>2025-08-12T00:00:00Z</vt:filetime>
  </property>
</Properties>
</file>