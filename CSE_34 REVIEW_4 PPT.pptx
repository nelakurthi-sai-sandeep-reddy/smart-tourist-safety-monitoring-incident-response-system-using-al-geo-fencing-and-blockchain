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70" r:id="rId14"/>
    <p:sldId id="271" r:id="rId15"/>
    <p:sldId id="265" r:id="rId16"/>
    <p:sldId id="272" r:id="rId17"/>
    <p:sldId id="273" r:id="rId18"/>
    <p:sldId id="266"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p:cViewPr varScale="1">
        <p:scale>
          <a:sx n="82" d="100"/>
          <a:sy n="82" d="100"/>
        </p:scale>
        <p:origin x="72" y="1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 sai Reddy" userId="a3ffee464f2e6c4b" providerId="LiveId" clId="{C2C27706-4DEB-4265-B33A-1A84ED255A80}"/>
    <pc:docChg chg="modSld">
      <pc:chgData name="T sai Reddy" userId="a3ffee464f2e6c4b" providerId="LiveId" clId="{C2C27706-4DEB-4265-B33A-1A84ED255A80}" dt="2026-04-21T09:08:46.628" v="1" actId="20577"/>
      <pc:docMkLst>
        <pc:docMk/>
      </pc:docMkLst>
      <pc:sldChg chg="modSp mod">
        <pc:chgData name="T sai Reddy" userId="a3ffee464f2e6c4b" providerId="LiveId" clId="{C2C27706-4DEB-4265-B33A-1A84ED255A80}" dt="2026-04-21T09:08:46.628" v="1" actId="20577"/>
        <pc:sldMkLst>
          <pc:docMk/>
          <pc:sldMk cId="0" sldId="256"/>
        </pc:sldMkLst>
        <pc:spChg chg="mod">
          <ac:chgData name="T sai Reddy" userId="a3ffee464f2e6c4b" providerId="LiveId" clId="{C2C27706-4DEB-4265-B33A-1A84ED255A80}" dt="2026-04-21T09:08:46.628" v="1" actId="20577"/>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E6CCD83-8C60-4DE8-A744-F015F81CA5E0}" type="datetimeFigureOut">
              <a:rPr lang="en-IN" smtClean="0"/>
              <a:t>21-04-2026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A434B7C-3B51-4682-AF6F-072DD4A4F266}" type="slidenum">
              <a:rPr lang="en-IN" smtClean="0"/>
              <a:t>‹#›</a:t>
            </a:fld>
            <a:endParaRPr lang="en-IN"/>
          </a:p>
        </p:txBody>
      </p:sp>
    </p:spTree>
    <p:extLst>
      <p:ext uri="{BB962C8B-B14F-4D97-AF65-F5344CB8AC3E}">
        <p14:creationId xmlns:p14="http://schemas.microsoft.com/office/powerpoint/2010/main" val="2128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5991224"/>
            <a:ext cx="12191999" cy="866774"/>
          </a:xfrm>
          <a:prstGeom prst="rect">
            <a:avLst/>
          </a:prstGeom>
        </p:spPr>
      </p:pic>
      <p:pic>
        <p:nvPicPr>
          <p:cNvPr id="18" name="bg object 18"/>
          <p:cNvPicPr/>
          <p:nvPr/>
        </p:nvPicPr>
        <p:blipFill>
          <a:blip r:embed="rId3" cstate="print"/>
          <a:stretch>
            <a:fillRect/>
          </a:stretch>
        </p:blipFill>
        <p:spPr>
          <a:xfrm>
            <a:off x="904874" y="1162050"/>
            <a:ext cx="10668000" cy="5191125"/>
          </a:xfrm>
          <a:prstGeom prst="rect">
            <a:avLst/>
          </a:prstGeom>
        </p:spPr>
      </p:pic>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1224"/>
            <a:ext cx="12191999" cy="866774"/>
          </a:xfrm>
          <a:prstGeom prst="rect">
            <a:avLst/>
          </a:prstGeom>
        </p:spPr>
      </p:pic>
      <p:sp>
        <p:nvSpPr>
          <p:cNvPr id="2" name="Holder 2"/>
          <p:cNvSpPr>
            <a:spLocks noGrp="1"/>
          </p:cNvSpPr>
          <p:nvPr>
            <p:ph type="title"/>
          </p:nvPr>
        </p:nvSpPr>
        <p:spPr>
          <a:xfrm>
            <a:off x="892175" y="69786"/>
            <a:ext cx="7870190" cy="74460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a:xfrm>
            <a:off x="1044892" y="1167764"/>
            <a:ext cx="10363835" cy="348107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Nelakurthi-Sai-Sandeep-reddy/Smart-Tourist-Safety-Monitoring-Incident-Response-System-using-Al-Geo-Fencing-and-Blockchai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26452" y="2775457"/>
          <a:ext cx="4352925" cy="267970"/>
        </p:xfrm>
        <a:graphic>
          <a:graphicData uri="http://schemas.openxmlformats.org/drawingml/2006/table">
            <a:tbl>
              <a:tblPr firstRow="1" bandRow="1">
                <a:tableStyleId>{2D5ABB26-0587-4C30-8999-92F81FD0307C}</a:tableStyleId>
              </a:tblPr>
              <a:tblGrid>
                <a:gridCol w="2073910">
                  <a:extLst>
                    <a:ext uri="{9D8B030D-6E8A-4147-A177-3AD203B41FA5}">
                      <a16:colId xmlns:a16="http://schemas.microsoft.com/office/drawing/2014/main" val="20000"/>
                    </a:ext>
                  </a:extLst>
                </a:gridCol>
                <a:gridCol w="2279015">
                  <a:extLst>
                    <a:ext uri="{9D8B030D-6E8A-4147-A177-3AD203B41FA5}">
                      <a16:colId xmlns:a16="http://schemas.microsoft.com/office/drawing/2014/main" val="20001"/>
                    </a:ext>
                  </a:extLst>
                </a:gridCol>
              </a:tblGrid>
              <a:tr h="267970">
                <a:tc>
                  <a:txBody>
                    <a:bodyPr/>
                    <a:lstStyle/>
                    <a:p>
                      <a:pPr marL="31750">
                        <a:lnSpc>
                          <a:spcPts val="2010"/>
                        </a:lnSpc>
                      </a:pPr>
                      <a:r>
                        <a:rPr sz="1800" b="1" spc="105" dirty="0">
                          <a:solidFill>
                            <a:srgbClr val="17365D"/>
                          </a:solidFill>
                          <a:latin typeface="Cambria"/>
                          <a:cs typeface="Cambria"/>
                        </a:rPr>
                        <a:t>Roll</a:t>
                      </a:r>
                      <a:r>
                        <a:rPr sz="1800" b="1" spc="210" dirty="0">
                          <a:solidFill>
                            <a:srgbClr val="17365D"/>
                          </a:solidFill>
                          <a:latin typeface="Cambria"/>
                          <a:cs typeface="Cambria"/>
                        </a:rPr>
                        <a:t> </a:t>
                      </a:r>
                      <a:r>
                        <a:rPr sz="1800" b="1" spc="70" dirty="0">
                          <a:solidFill>
                            <a:srgbClr val="17365D"/>
                          </a:solidFill>
                          <a:latin typeface="Cambria"/>
                          <a:cs typeface="Cambria"/>
                        </a:rPr>
                        <a:t>Number</a:t>
                      </a:r>
                      <a:endParaRPr sz="1800">
                        <a:latin typeface="Cambria"/>
                        <a:cs typeface="Cambria"/>
                      </a:endParaRPr>
                    </a:p>
                  </a:txBody>
                  <a:tcPr marL="0" marR="0" marT="0" marB="0"/>
                </a:tc>
                <a:tc>
                  <a:txBody>
                    <a:bodyPr/>
                    <a:lstStyle/>
                    <a:p>
                      <a:pPr marL="562610">
                        <a:lnSpc>
                          <a:spcPts val="2010"/>
                        </a:lnSpc>
                      </a:pPr>
                      <a:r>
                        <a:rPr sz="1800" b="1" spc="130" dirty="0">
                          <a:solidFill>
                            <a:srgbClr val="17365D"/>
                          </a:solidFill>
                          <a:latin typeface="Cambria"/>
                          <a:cs typeface="Cambria"/>
                        </a:rPr>
                        <a:t>Student</a:t>
                      </a:r>
                      <a:r>
                        <a:rPr sz="1800" b="1" spc="305" dirty="0">
                          <a:solidFill>
                            <a:srgbClr val="17365D"/>
                          </a:solidFill>
                          <a:latin typeface="Cambria"/>
                          <a:cs typeface="Cambria"/>
                        </a:rPr>
                        <a:t> </a:t>
                      </a:r>
                      <a:r>
                        <a:rPr sz="1800" b="1" spc="7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4272"/>
            <a:ext cx="11734165" cy="4596002"/>
          </a:xfrm>
          <a:prstGeom prst="rect">
            <a:avLst/>
          </a:prstGeom>
        </p:spPr>
        <p:txBody>
          <a:bodyPr vert="horz" wrap="square" lIns="0" tIns="6350" rIns="0" bIns="0" rtlCol="0">
            <a:spAutoFit/>
          </a:bodyPr>
          <a:lstStyle/>
          <a:p>
            <a:pPr marL="5534660" marR="828675" indent="-4636770">
              <a:lnSpc>
                <a:spcPct val="101699"/>
              </a:lnSpc>
              <a:spcBef>
                <a:spcPts val="50"/>
              </a:spcBef>
            </a:pPr>
            <a:r>
              <a:rPr lang="en-US" sz="2400" b="1" dirty="0"/>
              <a:t>     </a:t>
            </a:r>
            <a:r>
              <a:rPr lang="en-US" sz="2400" b="1" dirty="0">
                <a:latin typeface="Cambria" panose="02040503050406030204" pitchFamily="18" charset="0"/>
                <a:ea typeface="Cambria" panose="02040503050406030204" pitchFamily="18" charset="0"/>
              </a:rPr>
              <a:t>Smart Tourist Safety Monitoring &amp; Incident Response System</a:t>
            </a:r>
          </a:p>
          <a:p>
            <a:pPr marL="5534660" marR="828675" indent="-4636770">
              <a:lnSpc>
                <a:spcPct val="101699"/>
              </a:lnSpc>
              <a:spcBef>
                <a:spcPts val="50"/>
              </a:spcBef>
            </a:pPr>
            <a:r>
              <a:rPr lang="en-US" sz="2400" b="1" dirty="0">
                <a:latin typeface="Cambria" panose="02040503050406030204" pitchFamily="18" charset="0"/>
                <a:ea typeface="Cambria" panose="02040503050406030204" pitchFamily="18" charset="0"/>
              </a:rPr>
              <a:t>      using Al ,Geo-Fencing, and Blockchain-based Digital ID</a:t>
            </a:r>
          </a:p>
          <a:p>
            <a:pPr marL="5534660" marR="828675" indent="-4636770">
              <a:lnSpc>
                <a:spcPct val="101699"/>
              </a:lnSpc>
              <a:spcBef>
                <a:spcPts val="50"/>
              </a:spcBef>
            </a:pPr>
            <a:endParaRPr sz="2400" b="1" dirty="0">
              <a:latin typeface="Cambria"/>
              <a:cs typeface="Cambria"/>
            </a:endParaRPr>
          </a:p>
          <a:p>
            <a:pPr marL="803910">
              <a:lnSpc>
                <a:spcPct val="100000"/>
              </a:lnSpc>
            </a:pPr>
            <a:r>
              <a:rPr sz="1800" b="1" dirty="0">
                <a:solidFill>
                  <a:srgbClr val="17365D"/>
                </a:solidFill>
                <a:latin typeface="Cambria"/>
                <a:cs typeface="Cambria"/>
              </a:rPr>
              <a:t>Batch</a:t>
            </a:r>
            <a:r>
              <a:rPr sz="1800" b="1" spc="-65" dirty="0">
                <a:solidFill>
                  <a:srgbClr val="17365D"/>
                </a:solidFill>
                <a:latin typeface="Cambria"/>
                <a:cs typeface="Cambria"/>
              </a:rPr>
              <a:t> </a:t>
            </a:r>
            <a:r>
              <a:rPr sz="1800" b="1" spc="-10" dirty="0">
                <a:solidFill>
                  <a:srgbClr val="17365D"/>
                </a:solidFill>
                <a:latin typeface="Cambria"/>
                <a:cs typeface="Cambria"/>
              </a:rPr>
              <a:t>Number:</a:t>
            </a:r>
            <a:r>
              <a:rPr lang="en-IN" sz="1800" b="1" spc="-10" dirty="0">
                <a:solidFill>
                  <a:srgbClr val="17365D"/>
                </a:solidFill>
                <a:latin typeface="Cambria"/>
                <a:cs typeface="Cambria"/>
              </a:rPr>
              <a:t> </a:t>
            </a:r>
            <a:r>
              <a:rPr sz="1800" b="1" spc="-10" dirty="0">
                <a:solidFill>
                  <a:srgbClr val="17365D"/>
                </a:solidFill>
                <a:latin typeface="Cambria"/>
                <a:cs typeface="Cambria"/>
              </a:rPr>
              <a:t>CSE_</a:t>
            </a:r>
            <a:r>
              <a:rPr lang="en-IN" b="1" spc="-10" dirty="0">
                <a:solidFill>
                  <a:srgbClr val="17365D"/>
                </a:solidFill>
                <a:latin typeface="Cambria"/>
                <a:cs typeface="Cambria"/>
              </a:rPr>
              <a:t>34</a:t>
            </a:r>
            <a:endParaRPr sz="1800" dirty="0">
              <a:latin typeface="Cambria"/>
              <a:cs typeface="Cambria"/>
            </a:endParaRPr>
          </a:p>
          <a:p>
            <a:pPr marL="7835265">
              <a:lnSpc>
                <a:spcPct val="100000"/>
              </a:lnSpc>
              <a:spcBef>
                <a:spcPts val="35"/>
              </a:spcBef>
            </a:pPr>
            <a:r>
              <a:rPr sz="1800" b="1" dirty="0">
                <a:solidFill>
                  <a:srgbClr val="17365D"/>
                </a:solidFill>
                <a:latin typeface="Cambria"/>
                <a:cs typeface="Cambria"/>
              </a:rPr>
              <a:t>Under</a:t>
            </a:r>
            <a:r>
              <a:rPr sz="1800" b="1" spc="-65" dirty="0">
                <a:solidFill>
                  <a:srgbClr val="17365D"/>
                </a:solidFill>
                <a:latin typeface="Cambria"/>
                <a:cs typeface="Cambria"/>
              </a:rPr>
              <a:t> </a:t>
            </a:r>
            <a:r>
              <a:rPr sz="1800" b="1" dirty="0">
                <a:solidFill>
                  <a:srgbClr val="17365D"/>
                </a:solidFill>
                <a:latin typeface="Cambria"/>
                <a:cs typeface="Cambria"/>
              </a:rPr>
              <a:t>the</a:t>
            </a:r>
            <a:r>
              <a:rPr sz="1800" b="1" spc="-35" dirty="0">
                <a:solidFill>
                  <a:srgbClr val="17365D"/>
                </a:solidFill>
                <a:latin typeface="Cambria"/>
                <a:cs typeface="Cambria"/>
              </a:rPr>
              <a:t> </a:t>
            </a:r>
            <a:r>
              <a:rPr sz="1800" b="1" dirty="0">
                <a:solidFill>
                  <a:srgbClr val="17365D"/>
                </a:solidFill>
                <a:latin typeface="Cambria"/>
                <a:cs typeface="Cambria"/>
              </a:rPr>
              <a:t>Supervision</a:t>
            </a:r>
            <a:r>
              <a:rPr sz="1800" b="1" spc="-20"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1010"/>
              </a:spcBef>
            </a:pPr>
            <a:endParaRPr sz="1800" dirty="0">
              <a:latin typeface="Cambria"/>
              <a:cs typeface="Cambria"/>
            </a:endParaRPr>
          </a:p>
          <a:p>
            <a:pPr marL="6497955">
              <a:lnSpc>
                <a:spcPct val="100000"/>
              </a:lnSpc>
            </a:pPr>
            <a:r>
              <a:rPr sz="1600" b="1" dirty="0">
                <a:solidFill>
                  <a:srgbClr val="001F5F"/>
                </a:solidFill>
                <a:latin typeface="Cambria" panose="02040503050406030204" pitchFamily="18" charset="0"/>
                <a:ea typeface="Cambria" panose="02040503050406030204" pitchFamily="18" charset="0"/>
                <a:cs typeface="Arial"/>
              </a:rPr>
              <a:t>Ms.</a:t>
            </a:r>
            <a:r>
              <a:rPr sz="1600" b="1" spc="-2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Saiqa</a:t>
            </a:r>
            <a:r>
              <a:rPr sz="1600" b="1" spc="-5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Khan</a:t>
            </a:r>
            <a:r>
              <a:rPr sz="1600" b="1" spc="25" dirty="0">
                <a:solidFill>
                  <a:srgbClr val="001F5F"/>
                </a:solidFill>
                <a:latin typeface="Cambria" panose="02040503050406030204" pitchFamily="18" charset="0"/>
                <a:ea typeface="Cambria" panose="02040503050406030204" pitchFamily="18" charset="0"/>
                <a:cs typeface="Arial"/>
              </a:rPr>
              <a:t> </a:t>
            </a:r>
            <a:r>
              <a:rPr sz="1600" b="1" spc="-50" dirty="0">
                <a:solidFill>
                  <a:srgbClr val="001F5F"/>
                </a:solidFill>
                <a:latin typeface="Cambria" panose="02040503050406030204" pitchFamily="18" charset="0"/>
                <a:ea typeface="Cambria" panose="02040503050406030204" pitchFamily="18" charset="0"/>
                <a:cs typeface="Arial"/>
              </a:rPr>
              <a:t>N</a:t>
            </a:r>
            <a:endParaRPr sz="1600" dirty="0">
              <a:latin typeface="Cambria" panose="02040503050406030204" pitchFamily="18" charset="0"/>
              <a:ea typeface="Cambria" panose="02040503050406030204" pitchFamily="18" charset="0"/>
              <a:cs typeface="Arial"/>
            </a:endParaRPr>
          </a:p>
          <a:p>
            <a:pPr marL="6497955" marR="5080">
              <a:lnSpc>
                <a:spcPct val="114199"/>
              </a:lnSpc>
              <a:spcBef>
                <a:spcPts val="60"/>
              </a:spcBef>
            </a:pPr>
            <a:r>
              <a:rPr sz="1700" b="1" dirty="0">
                <a:solidFill>
                  <a:srgbClr val="17365D"/>
                </a:solidFill>
                <a:latin typeface="Cambria"/>
                <a:cs typeface="Cambria"/>
              </a:rPr>
              <a:t>Professor</a:t>
            </a:r>
            <a:r>
              <a:rPr sz="1700" b="1" spc="5" dirty="0">
                <a:solidFill>
                  <a:srgbClr val="17365D"/>
                </a:solidFill>
                <a:latin typeface="Cambria"/>
                <a:cs typeface="Cambria"/>
              </a:rPr>
              <a:t> </a:t>
            </a:r>
            <a:r>
              <a:rPr sz="1700" b="1" dirty="0">
                <a:solidFill>
                  <a:srgbClr val="17365D"/>
                </a:solidFill>
                <a:latin typeface="Cambria"/>
                <a:cs typeface="Cambria"/>
              </a:rPr>
              <a:t>/</a:t>
            </a:r>
            <a:r>
              <a:rPr sz="1700" b="1" spc="-70" dirty="0">
                <a:solidFill>
                  <a:srgbClr val="17365D"/>
                </a:solidFill>
                <a:latin typeface="Cambria"/>
                <a:cs typeface="Cambria"/>
              </a:rPr>
              <a:t> </a:t>
            </a:r>
            <a:r>
              <a:rPr sz="1700" b="1" dirty="0">
                <a:solidFill>
                  <a:srgbClr val="17365D"/>
                </a:solidFill>
                <a:latin typeface="Cambria"/>
                <a:cs typeface="Cambria"/>
              </a:rPr>
              <a:t>Associate</a:t>
            </a:r>
            <a:r>
              <a:rPr sz="1700" b="1" spc="-40" dirty="0">
                <a:solidFill>
                  <a:srgbClr val="17365D"/>
                </a:solidFill>
                <a:latin typeface="Cambria"/>
                <a:cs typeface="Cambria"/>
              </a:rPr>
              <a:t> </a:t>
            </a:r>
            <a:r>
              <a:rPr sz="1700" b="1" dirty="0">
                <a:solidFill>
                  <a:srgbClr val="17365D"/>
                </a:solidFill>
                <a:latin typeface="Cambria"/>
                <a:cs typeface="Cambria"/>
              </a:rPr>
              <a:t>Professor</a:t>
            </a:r>
            <a:r>
              <a:rPr sz="1700" b="1" spc="-65" dirty="0">
                <a:solidFill>
                  <a:srgbClr val="17365D"/>
                </a:solidFill>
                <a:latin typeface="Cambria"/>
                <a:cs typeface="Cambria"/>
              </a:rPr>
              <a:t> </a:t>
            </a:r>
            <a:r>
              <a:rPr sz="1700" b="1" dirty="0">
                <a:solidFill>
                  <a:srgbClr val="17365D"/>
                </a:solidFill>
                <a:latin typeface="Cambria"/>
                <a:cs typeface="Cambria"/>
              </a:rPr>
              <a:t>/</a:t>
            </a:r>
            <a:r>
              <a:rPr sz="1700" b="1" spc="5" dirty="0">
                <a:solidFill>
                  <a:srgbClr val="17365D"/>
                </a:solidFill>
                <a:latin typeface="Cambria"/>
                <a:cs typeface="Cambria"/>
              </a:rPr>
              <a:t> </a:t>
            </a:r>
            <a:r>
              <a:rPr sz="1700" b="1" dirty="0">
                <a:solidFill>
                  <a:srgbClr val="17365D"/>
                </a:solidFill>
                <a:latin typeface="Cambria"/>
                <a:cs typeface="Cambria"/>
              </a:rPr>
              <a:t>Assistant</a:t>
            </a:r>
            <a:r>
              <a:rPr sz="1700" b="1" spc="-55" dirty="0">
                <a:solidFill>
                  <a:srgbClr val="17365D"/>
                </a:solidFill>
                <a:latin typeface="Cambria"/>
                <a:cs typeface="Cambria"/>
              </a:rPr>
              <a:t> </a:t>
            </a:r>
            <a:r>
              <a:rPr sz="1700" b="1" spc="-10" dirty="0">
                <a:solidFill>
                  <a:srgbClr val="17365D"/>
                </a:solidFill>
                <a:latin typeface="Cambria"/>
                <a:cs typeface="Cambria"/>
              </a:rPr>
              <a:t>Professor </a:t>
            </a:r>
            <a:r>
              <a:rPr sz="1700" b="1" dirty="0">
                <a:solidFill>
                  <a:srgbClr val="17365D"/>
                </a:solidFill>
                <a:latin typeface="Cambria"/>
                <a:cs typeface="Cambria"/>
              </a:rPr>
              <a:t>School</a:t>
            </a:r>
            <a:r>
              <a:rPr sz="1700" b="1" spc="-50" dirty="0">
                <a:solidFill>
                  <a:srgbClr val="17365D"/>
                </a:solidFill>
                <a:latin typeface="Cambria"/>
                <a:cs typeface="Cambria"/>
              </a:rPr>
              <a:t> </a:t>
            </a:r>
            <a:r>
              <a:rPr sz="1700" b="1" dirty="0">
                <a:solidFill>
                  <a:srgbClr val="17365D"/>
                </a:solidFill>
                <a:latin typeface="Cambria"/>
                <a:cs typeface="Cambria"/>
              </a:rPr>
              <a:t>of Computer</a:t>
            </a:r>
            <a:r>
              <a:rPr sz="1700" b="1" spc="-5" dirty="0">
                <a:solidFill>
                  <a:srgbClr val="17365D"/>
                </a:solidFill>
                <a:latin typeface="Cambria"/>
                <a:cs typeface="Cambria"/>
              </a:rPr>
              <a:t> </a:t>
            </a:r>
            <a:r>
              <a:rPr sz="1700" b="1" spc="-10" dirty="0">
                <a:solidFill>
                  <a:srgbClr val="17365D"/>
                </a:solidFill>
                <a:latin typeface="Cambria"/>
                <a:cs typeface="Cambria"/>
              </a:rPr>
              <a:t>Science</a:t>
            </a:r>
            <a:r>
              <a:rPr sz="1700" b="1" spc="-45" dirty="0">
                <a:solidFill>
                  <a:srgbClr val="17365D"/>
                </a:solidFill>
                <a:latin typeface="Cambria"/>
                <a:cs typeface="Cambria"/>
              </a:rPr>
              <a:t> </a:t>
            </a:r>
            <a:r>
              <a:rPr sz="1700" b="1" dirty="0">
                <a:solidFill>
                  <a:srgbClr val="17365D"/>
                </a:solidFill>
                <a:latin typeface="Cambria"/>
                <a:cs typeface="Cambria"/>
              </a:rPr>
              <a:t>and</a:t>
            </a:r>
            <a:r>
              <a:rPr sz="1700" b="1" spc="-10" dirty="0">
                <a:solidFill>
                  <a:srgbClr val="17365D"/>
                </a:solidFill>
                <a:latin typeface="Cambria"/>
                <a:cs typeface="Cambria"/>
              </a:rPr>
              <a:t> Engineering </a:t>
            </a:r>
            <a:r>
              <a:rPr sz="1700" b="1" dirty="0">
                <a:solidFill>
                  <a:srgbClr val="17365D"/>
                </a:solidFill>
                <a:latin typeface="Cambria"/>
                <a:cs typeface="Cambria"/>
              </a:rPr>
              <a:t>Presidency</a:t>
            </a:r>
            <a:r>
              <a:rPr sz="1700" b="1" spc="-5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12700">
              <a:lnSpc>
                <a:spcPct val="100000"/>
              </a:lnSpc>
              <a:spcBef>
                <a:spcPts val="1920"/>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4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5" dirty="0">
                <a:solidFill>
                  <a:srgbClr val="4F81BC"/>
                </a:solidFill>
                <a:latin typeface="Cambria"/>
                <a:cs typeface="Cambria"/>
              </a:rPr>
              <a:t> </a:t>
            </a:r>
            <a:r>
              <a:rPr sz="1800" dirty="0">
                <a:solidFill>
                  <a:srgbClr val="FFC000"/>
                </a:solidFill>
                <a:latin typeface="Arial MT"/>
                <a:cs typeface="Arial MT"/>
              </a:rPr>
              <a:t>B.Tech(Computer</a:t>
            </a:r>
            <a:r>
              <a:rPr sz="1800" spc="-10" dirty="0">
                <a:solidFill>
                  <a:srgbClr val="FFC000"/>
                </a:solidFill>
                <a:latin typeface="Arial MT"/>
                <a:cs typeface="Arial MT"/>
              </a:rPr>
              <a:t> </a:t>
            </a:r>
            <a:r>
              <a:rPr sz="1800" dirty="0">
                <a:solidFill>
                  <a:srgbClr val="FFC000"/>
                </a:solidFill>
                <a:latin typeface="Arial MT"/>
                <a:cs typeface="Arial MT"/>
              </a:rPr>
              <a:t>Science</a:t>
            </a:r>
            <a:r>
              <a:rPr sz="1800" spc="-35" dirty="0">
                <a:solidFill>
                  <a:srgbClr val="FFC000"/>
                </a:solidFill>
                <a:latin typeface="Arial MT"/>
                <a:cs typeface="Arial MT"/>
              </a:rPr>
              <a:t> </a:t>
            </a:r>
            <a:r>
              <a:rPr sz="1800" dirty="0">
                <a:solidFill>
                  <a:srgbClr val="FFC000"/>
                </a:solidFill>
                <a:latin typeface="Arial MT"/>
                <a:cs typeface="Arial MT"/>
              </a:rPr>
              <a:t>And</a:t>
            </a:r>
            <a:r>
              <a:rPr sz="1800" spc="-35" dirty="0">
                <a:solidFill>
                  <a:srgbClr val="FFC000"/>
                </a:solidFill>
                <a:latin typeface="Arial MT"/>
                <a:cs typeface="Arial MT"/>
              </a:rPr>
              <a:t> </a:t>
            </a:r>
            <a:r>
              <a:rPr sz="1800" spc="-10" dirty="0">
                <a:solidFill>
                  <a:srgbClr val="FFC000"/>
                </a:solidFill>
                <a:latin typeface="Arial MT"/>
                <a:cs typeface="Arial MT"/>
              </a:rPr>
              <a:t>Engineering)</a:t>
            </a:r>
            <a:endParaRPr sz="1800" dirty="0">
              <a:latin typeface="Arial MT"/>
              <a:cs typeface="Arial MT"/>
            </a:endParaRPr>
          </a:p>
          <a:p>
            <a:pPr marL="12700">
              <a:lnSpc>
                <a:spcPct val="100000"/>
              </a:lnSpc>
              <a:spcBef>
                <a:spcPts val="20"/>
              </a:spcBef>
            </a:pPr>
            <a:r>
              <a:rPr sz="1800" b="1" dirty="0">
                <a:solidFill>
                  <a:srgbClr val="4F81BC"/>
                </a:solidFill>
                <a:latin typeface="Cambria"/>
                <a:cs typeface="Cambria"/>
              </a:rPr>
              <a:t>Name</a:t>
            </a:r>
            <a:r>
              <a:rPr sz="1800" b="1" spc="-1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5"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solidFill>
                  <a:srgbClr val="FF0000"/>
                </a:solidFill>
                <a:latin typeface="Arial"/>
                <a:cs typeface="Arial"/>
              </a:rPr>
              <a:t>Dr.</a:t>
            </a:r>
            <a:r>
              <a:rPr sz="1800" b="1" spc="-25" dirty="0">
                <a:solidFill>
                  <a:srgbClr val="FF0000"/>
                </a:solidFill>
                <a:latin typeface="Arial"/>
                <a:cs typeface="Arial"/>
              </a:rPr>
              <a:t> </a:t>
            </a:r>
            <a:r>
              <a:rPr sz="1800" b="1" dirty="0">
                <a:solidFill>
                  <a:srgbClr val="FF0000"/>
                </a:solidFill>
                <a:latin typeface="Arial"/>
                <a:cs typeface="Arial"/>
              </a:rPr>
              <a:t>Asif</a:t>
            </a:r>
            <a:r>
              <a:rPr sz="1800" b="1" spc="20" dirty="0">
                <a:solidFill>
                  <a:srgbClr val="FF0000"/>
                </a:solidFill>
                <a:latin typeface="Arial"/>
                <a:cs typeface="Arial"/>
              </a:rPr>
              <a:t> </a:t>
            </a:r>
            <a:r>
              <a:rPr sz="1800" b="1" spc="-10" dirty="0">
                <a:solidFill>
                  <a:srgbClr val="FF0000"/>
                </a:solidFill>
                <a:latin typeface="Arial"/>
                <a:cs typeface="Arial"/>
              </a:rPr>
              <a:t>Mohammed</a:t>
            </a:r>
            <a:endParaRPr sz="1800" dirty="0">
              <a:latin typeface="Arial"/>
              <a:cs typeface="Arial"/>
            </a:endParaRPr>
          </a:p>
          <a:p>
            <a:pPr marL="12700">
              <a:lnSpc>
                <a:spcPct val="100000"/>
              </a:lnSpc>
              <a:spcBef>
                <a:spcPts val="15"/>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35"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 dirty="0">
                <a:solidFill>
                  <a:srgbClr val="4F81BC"/>
                </a:solidFill>
                <a:latin typeface="Cambria"/>
                <a:cs typeface="Cambria"/>
              </a:rPr>
              <a:t> </a:t>
            </a:r>
            <a:r>
              <a:rPr sz="1800" b="1" dirty="0">
                <a:solidFill>
                  <a:srgbClr val="4F81BC"/>
                </a:solidFill>
                <a:latin typeface="Cambria"/>
                <a:cs typeface="Cambria"/>
              </a:rPr>
              <a:t>Project</a:t>
            </a:r>
            <a:r>
              <a:rPr sz="1800" b="1" spc="-30" dirty="0">
                <a:solidFill>
                  <a:srgbClr val="4F81BC"/>
                </a:solidFill>
                <a:latin typeface="Cambria"/>
                <a:cs typeface="Cambria"/>
              </a:rPr>
              <a:t> </a:t>
            </a:r>
            <a:r>
              <a:rPr sz="1800" b="1" dirty="0">
                <a:solidFill>
                  <a:srgbClr val="4F81BC"/>
                </a:solidFill>
                <a:latin typeface="Cambria"/>
                <a:cs typeface="Cambria"/>
              </a:rPr>
              <a:t>Coordinator:</a:t>
            </a:r>
            <a:r>
              <a:rPr sz="1800" b="1" spc="-45" dirty="0">
                <a:solidFill>
                  <a:srgbClr val="4F81BC"/>
                </a:solidFill>
                <a:latin typeface="Cambria"/>
                <a:cs typeface="Cambria"/>
              </a:rPr>
              <a:t> </a:t>
            </a:r>
            <a:r>
              <a:rPr sz="1800" b="1" dirty="0">
                <a:solidFill>
                  <a:srgbClr val="FF0000"/>
                </a:solidFill>
                <a:latin typeface="Arial"/>
                <a:cs typeface="Arial"/>
              </a:rPr>
              <a:t>Dr.</a:t>
            </a:r>
            <a:r>
              <a:rPr sz="1800" b="1" spc="-50" dirty="0">
                <a:solidFill>
                  <a:srgbClr val="FF0000"/>
                </a:solidFill>
                <a:latin typeface="Arial"/>
                <a:cs typeface="Arial"/>
              </a:rPr>
              <a:t> </a:t>
            </a:r>
            <a:r>
              <a:rPr sz="1800" b="1" dirty="0">
                <a:solidFill>
                  <a:srgbClr val="FF0000"/>
                </a:solidFill>
                <a:latin typeface="Arial"/>
                <a:cs typeface="Arial"/>
              </a:rPr>
              <a:t>Jayavadivel</a:t>
            </a:r>
            <a:r>
              <a:rPr sz="1800" b="1" spc="-25" dirty="0">
                <a:solidFill>
                  <a:srgbClr val="FF0000"/>
                </a:solidFill>
                <a:latin typeface="Arial"/>
                <a:cs typeface="Arial"/>
              </a:rPr>
              <a:t> </a:t>
            </a:r>
            <a:r>
              <a:rPr sz="1800" b="1" spc="-20" dirty="0">
                <a:solidFill>
                  <a:srgbClr val="FF0000"/>
                </a:solidFill>
                <a:latin typeface="Arial"/>
                <a:cs typeface="Arial"/>
              </a:rPr>
              <a:t>Ravi</a:t>
            </a:r>
            <a:endParaRPr sz="1800" dirty="0">
              <a:latin typeface="Arial"/>
              <a:cs typeface="Arial"/>
            </a:endParaRPr>
          </a:p>
          <a:p>
            <a:pPr marL="12700">
              <a:lnSpc>
                <a:spcPct val="100000"/>
              </a:lnSpc>
              <a:spcBef>
                <a:spcPts val="20"/>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30" dirty="0">
                <a:solidFill>
                  <a:srgbClr val="4F81BC"/>
                </a:solidFill>
                <a:latin typeface="Cambria"/>
                <a:cs typeface="Cambria"/>
              </a:rPr>
              <a:t> </a:t>
            </a:r>
            <a:r>
              <a:rPr sz="1800" b="1" dirty="0">
                <a:solidFill>
                  <a:srgbClr val="4F81BC"/>
                </a:solidFill>
                <a:latin typeface="Cambria"/>
                <a:cs typeface="Cambria"/>
              </a:rPr>
              <a:t>the</a:t>
            </a:r>
            <a:r>
              <a:rPr sz="1800" b="1" spc="-20" dirty="0">
                <a:solidFill>
                  <a:srgbClr val="4F81BC"/>
                </a:solidFill>
                <a:latin typeface="Cambria"/>
                <a:cs typeface="Cambria"/>
              </a:rPr>
              <a:t> </a:t>
            </a:r>
            <a:r>
              <a:rPr sz="1800" b="1" dirty="0">
                <a:solidFill>
                  <a:srgbClr val="4F81BC"/>
                </a:solidFill>
                <a:latin typeface="Cambria"/>
                <a:cs typeface="Cambria"/>
              </a:rPr>
              <a:t>School</a:t>
            </a:r>
            <a:r>
              <a:rPr sz="1800" b="1" spc="5" dirty="0">
                <a:solidFill>
                  <a:srgbClr val="4F81BC"/>
                </a:solidFill>
                <a:latin typeface="Cambria"/>
                <a:cs typeface="Cambria"/>
              </a:rPr>
              <a:t> </a:t>
            </a:r>
            <a:r>
              <a:rPr sz="1800" b="1" spc="-10" dirty="0">
                <a:solidFill>
                  <a:srgbClr val="4F81BC"/>
                </a:solidFill>
                <a:latin typeface="Cambria"/>
                <a:cs typeface="Cambria"/>
              </a:rPr>
              <a:t>Project</a:t>
            </a:r>
            <a:r>
              <a:rPr sz="1800" b="1" spc="-25" dirty="0">
                <a:solidFill>
                  <a:srgbClr val="4F81BC"/>
                </a:solidFill>
                <a:latin typeface="Cambria"/>
                <a:cs typeface="Cambria"/>
              </a:rPr>
              <a:t> </a:t>
            </a:r>
            <a:r>
              <a:rPr sz="1800" b="1" dirty="0">
                <a:solidFill>
                  <a:srgbClr val="4F81BC"/>
                </a:solidFill>
                <a:latin typeface="Cambria"/>
                <a:cs typeface="Cambria"/>
              </a:rPr>
              <a:t>Coordinators:</a:t>
            </a:r>
            <a:r>
              <a:rPr sz="1800" b="1" spc="10" dirty="0">
                <a:solidFill>
                  <a:srgbClr val="4F81BC"/>
                </a:solidFill>
                <a:latin typeface="Cambria"/>
                <a:cs typeface="Cambria"/>
              </a:rPr>
              <a:t> </a:t>
            </a:r>
            <a:r>
              <a:rPr sz="1800" b="1" dirty="0">
                <a:latin typeface="Cambria"/>
                <a:cs typeface="Cambria"/>
              </a:rPr>
              <a:t>Dr.</a:t>
            </a:r>
            <a:r>
              <a:rPr sz="1800" b="1" spc="-30" dirty="0">
                <a:latin typeface="Cambria"/>
                <a:cs typeface="Cambria"/>
              </a:rPr>
              <a:t> </a:t>
            </a:r>
            <a:r>
              <a:rPr sz="1800" b="1" dirty="0">
                <a:latin typeface="Cambria"/>
                <a:cs typeface="Cambria"/>
              </a:rPr>
              <a:t>Sampath</a:t>
            </a:r>
            <a:r>
              <a:rPr sz="1800" b="1" spc="-40"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 ,</a:t>
            </a:r>
            <a:r>
              <a:rPr sz="1800" b="1" spc="-10" dirty="0">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Geetha</a:t>
            </a:r>
            <a:r>
              <a:rPr sz="1800" b="1" spc="-5"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59250" y="119697"/>
            <a:ext cx="2853690" cy="622799"/>
          </a:xfrm>
          <a:prstGeom prst="rect">
            <a:avLst/>
          </a:prstGeom>
        </p:spPr>
        <p:txBody>
          <a:bodyPr vert="horz" wrap="square" lIns="0" tIns="12700" rIns="0" bIns="0" rtlCol="0">
            <a:spAutoFit/>
          </a:bodyPr>
          <a:lstStyle/>
          <a:p>
            <a:pPr marL="936625" marR="5080" indent="-923925">
              <a:lnSpc>
                <a:spcPct val="114799"/>
              </a:lnSpc>
              <a:spcBef>
                <a:spcPts val="100"/>
              </a:spcBef>
            </a:pPr>
            <a:r>
              <a:rPr sz="1800" spc="-45" dirty="0"/>
              <a:t> </a:t>
            </a:r>
            <a:r>
              <a:rPr lang="en-IN" sz="1800" spc="-45" dirty="0"/>
              <a:t>          </a:t>
            </a:r>
            <a:r>
              <a:rPr sz="1800" dirty="0"/>
              <a:t>Capstone</a:t>
            </a:r>
            <a:r>
              <a:rPr sz="1800" spc="-55" dirty="0"/>
              <a:t> </a:t>
            </a:r>
            <a:r>
              <a:rPr sz="1800" spc="-10" dirty="0"/>
              <a:t>Project </a:t>
            </a:r>
            <a:br>
              <a:rPr lang="en-IN" sz="1800" spc="-10" dirty="0"/>
            </a:br>
            <a:r>
              <a:rPr sz="1800" spc="-10" dirty="0"/>
              <a:t>Review-</a:t>
            </a:r>
            <a:r>
              <a:rPr lang="en-IN" sz="1800" spc="-50" dirty="0"/>
              <a:t>4</a:t>
            </a:r>
            <a:endParaRPr sz="1800" dirty="0"/>
          </a:p>
        </p:txBody>
      </p:sp>
      <p:graphicFrame>
        <p:nvGraphicFramePr>
          <p:cNvPr id="5" name="object 5"/>
          <p:cNvGraphicFramePr>
            <a:graphicFrameLocks noGrp="1"/>
          </p:cNvGraphicFramePr>
          <p:nvPr/>
        </p:nvGraphicFramePr>
        <p:xfrm>
          <a:off x="547001" y="3171317"/>
          <a:ext cx="5067300" cy="1108710"/>
        </p:xfrm>
        <a:graphic>
          <a:graphicData uri="http://schemas.openxmlformats.org/drawingml/2006/table">
            <a:tbl>
              <a:tblPr firstRow="1" bandRow="1">
                <a:tableStyleId>{2D5ABB26-0587-4C30-8999-92F81FD0307C}</a:tableStyleId>
              </a:tblPr>
              <a:tblGrid>
                <a:gridCol w="25336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tblGrid>
              <a:tr h="369570">
                <a:tc>
                  <a:txBody>
                    <a:bodyPr/>
                    <a:lstStyle/>
                    <a:p>
                      <a:pPr marL="5080" algn="ctr">
                        <a:lnSpc>
                          <a:spcPct val="100000"/>
                        </a:lnSpc>
                        <a:spcBef>
                          <a:spcPts val="345"/>
                        </a:spcBef>
                      </a:pPr>
                      <a:r>
                        <a:rPr sz="1400" dirty="0">
                          <a:latin typeface="Arial MT"/>
                          <a:cs typeface="Arial MT"/>
                        </a:rPr>
                        <a:t>N</a:t>
                      </a:r>
                      <a:r>
                        <a:rPr sz="1400" spc="-20" dirty="0">
                          <a:latin typeface="Arial MT"/>
                          <a:cs typeface="Arial MT"/>
                        </a:rPr>
                        <a:t> </a:t>
                      </a:r>
                      <a:r>
                        <a:rPr sz="1400" dirty="0">
                          <a:latin typeface="Arial MT"/>
                          <a:cs typeface="Arial MT"/>
                        </a:rPr>
                        <a:t>SAI</a:t>
                      </a:r>
                      <a:r>
                        <a:rPr sz="1400" spc="-50" dirty="0">
                          <a:latin typeface="Arial MT"/>
                          <a:cs typeface="Arial MT"/>
                        </a:rPr>
                        <a:t> </a:t>
                      </a:r>
                      <a:r>
                        <a:rPr sz="1400" dirty="0">
                          <a:latin typeface="Arial MT"/>
                          <a:cs typeface="Arial MT"/>
                        </a:rPr>
                        <a:t>SANDEEP</a:t>
                      </a:r>
                      <a:r>
                        <a:rPr sz="1400" spc="-10" dirty="0">
                          <a:latin typeface="Arial MT"/>
                          <a:cs typeface="Arial MT"/>
                        </a:rPr>
                        <a:t> REDDY</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56260" algn="r">
                        <a:lnSpc>
                          <a:spcPct val="100000"/>
                        </a:lnSpc>
                        <a:spcBef>
                          <a:spcPts val="345"/>
                        </a:spcBef>
                      </a:pPr>
                      <a:r>
                        <a:rPr sz="1400" spc="-10" dirty="0">
                          <a:latin typeface="Arial MT"/>
                          <a:cs typeface="Arial MT"/>
                        </a:rPr>
                        <a:t>20221CSE0277</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9570">
                <a:tc>
                  <a:txBody>
                    <a:bodyPr/>
                    <a:lstStyle/>
                    <a:p>
                      <a:pPr marL="7620" algn="ctr">
                        <a:lnSpc>
                          <a:spcPct val="100000"/>
                        </a:lnSpc>
                        <a:spcBef>
                          <a:spcPts val="350"/>
                        </a:spcBef>
                      </a:pPr>
                      <a:r>
                        <a:rPr sz="1400" dirty="0">
                          <a:latin typeface="Arial MT"/>
                          <a:cs typeface="Arial MT"/>
                        </a:rPr>
                        <a:t>SOHAN</a:t>
                      </a:r>
                      <a:r>
                        <a:rPr sz="1400" spc="-10" dirty="0">
                          <a:latin typeface="Arial MT"/>
                          <a:cs typeface="Arial MT"/>
                        </a:rPr>
                        <a:t> </a:t>
                      </a:r>
                      <a:r>
                        <a:rPr sz="1400" spc="-60" dirty="0">
                          <a:latin typeface="Arial MT"/>
                          <a:cs typeface="Arial MT"/>
                        </a:rPr>
                        <a:t>K</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80390" algn="r">
                        <a:lnSpc>
                          <a:spcPct val="100000"/>
                        </a:lnSpc>
                        <a:spcBef>
                          <a:spcPts val="350"/>
                        </a:spcBef>
                      </a:pPr>
                      <a:r>
                        <a:rPr sz="1400" spc="-10" dirty="0">
                          <a:latin typeface="Arial MT"/>
                          <a:cs typeface="Arial MT"/>
                        </a:rPr>
                        <a:t>20221CSE0418</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9570">
                <a:tc>
                  <a:txBody>
                    <a:bodyPr/>
                    <a:lstStyle/>
                    <a:p>
                      <a:pPr marR="36830" algn="ctr">
                        <a:lnSpc>
                          <a:spcPct val="100000"/>
                        </a:lnSpc>
                        <a:spcBef>
                          <a:spcPts val="355"/>
                        </a:spcBef>
                      </a:pPr>
                      <a:r>
                        <a:rPr sz="1400" dirty="0">
                          <a:latin typeface="Arial MT"/>
                          <a:cs typeface="Arial MT"/>
                        </a:rPr>
                        <a:t>HARSHITH</a:t>
                      </a:r>
                      <a:r>
                        <a:rPr sz="1400" spc="-5" dirty="0">
                          <a:latin typeface="Arial MT"/>
                          <a:cs typeface="Arial MT"/>
                        </a:rPr>
                        <a:t> </a:t>
                      </a:r>
                      <a:r>
                        <a:rPr sz="1400" dirty="0">
                          <a:latin typeface="Arial MT"/>
                          <a:cs typeface="Arial MT"/>
                        </a:rPr>
                        <a:t>K</a:t>
                      </a:r>
                      <a:r>
                        <a:rPr sz="1400" spc="-55" dirty="0">
                          <a:latin typeface="Arial MT"/>
                          <a:cs typeface="Arial MT"/>
                        </a:rPr>
                        <a:t> </a:t>
                      </a:r>
                      <a:r>
                        <a:rPr sz="1400" spc="-50" dirty="0">
                          <a:latin typeface="Arial MT"/>
                          <a:cs typeface="Arial MT"/>
                        </a:rPr>
                        <a:t>R</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2620">
                        <a:lnSpc>
                          <a:spcPct val="100000"/>
                        </a:lnSpc>
                        <a:spcBef>
                          <a:spcPts val="355"/>
                        </a:spcBef>
                      </a:pPr>
                      <a:r>
                        <a:rPr sz="1400" spc="-10" dirty="0">
                          <a:latin typeface="Arial MT"/>
                          <a:cs typeface="Arial MT"/>
                        </a:rPr>
                        <a:t>20221CSE0203</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Problem</a:t>
            </a:r>
            <a:r>
              <a:rPr spc="110" dirty="0"/>
              <a:t> </a:t>
            </a:r>
            <a:r>
              <a:rPr dirty="0"/>
              <a:t>Statement</a:t>
            </a:r>
            <a:r>
              <a:rPr spc="135" dirty="0"/>
              <a:t> </a:t>
            </a:r>
            <a:r>
              <a:rPr spc="-10" dirty="0"/>
              <a:t>Number:</a:t>
            </a:r>
          </a:p>
        </p:txBody>
      </p:sp>
      <p:sp>
        <p:nvSpPr>
          <p:cNvPr id="3" name="object 3"/>
          <p:cNvSpPr txBox="1"/>
          <p:nvPr/>
        </p:nvSpPr>
        <p:spPr>
          <a:xfrm>
            <a:off x="968375" y="1177289"/>
            <a:ext cx="10385425" cy="5027979"/>
          </a:xfrm>
          <a:prstGeom prst="rect">
            <a:avLst/>
          </a:prstGeom>
        </p:spPr>
        <p:txBody>
          <a:bodyPr vert="horz" wrap="square" lIns="0" tIns="16510" rIns="0" bIns="0" rtlCol="0">
            <a:spAutoFit/>
          </a:bodyPr>
          <a:lstStyle/>
          <a:p>
            <a:pPr marL="88900">
              <a:lnSpc>
                <a:spcPct val="100000"/>
              </a:lnSpc>
              <a:spcBef>
                <a:spcPts val="130"/>
              </a:spcBef>
            </a:pPr>
            <a:r>
              <a:rPr sz="2150" b="1" dirty="0">
                <a:latin typeface="Cambria"/>
                <a:cs typeface="Cambria"/>
              </a:rPr>
              <a:t>Organization</a:t>
            </a:r>
            <a:r>
              <a:rPr sz="2150" dirty="0">
                <a:latin typeface="Cambria"/>
                <a:cs typeface="Cambria"/>
              </a:rPr>
              <a:t>:</a:t>
            </a:r>
            <a:r>
              <a:rPr lang="en-IN" sz="2150" dirty="0">
                <a:latin typeface="Cambria"/>
                <a:cs typeface="Cambria"/>
              </a:rPr>
              <a:t>PRESIDENCY UNIVERSITY</a:t>
            </a:r>
          </a:p>
          <a:p>
            <a:pPr marL="88900">
              <a:lnSpc>
                <a:spcPct val="100000"/>
              </a:lnSpc>
              <a:spcBef>
                <a:spcPts val="130"/>
              </a:spcBef>
            </a:pPr>
            <a:endParaRPr lang="en-IN" sz="2150" spc="-10" dirty="0">
              <a:latin typeface="Cambria"/>
              <a:cs typeface="Cambria"/>
            </a:endParaRPr>
          </a:p>
          <a:p>
            <a:pPr marL="88900">
              <a:lnSpc>
                <a:spcPct val="100000"/>
              </a:lnSpc>
              <a:spcBef>
                <a:spcPts val="130"/>
              </a:spcBef>
            </a:pPr>
            <a:r>
              <a:rPr sz="2150" b="1" dirty="0">
                <a:latin typeface="Cambria"/>
                <a:cs typeface="Cambria"/>
              </a:rPr>
              <a:t>Category</a:t>
            </a:r>
            <a:r>
              <a:rPr sz="2150" b="1" spc="130" dirty="0">
                <a:latin typeface="Cambria"/>
                <a:cs typeface="Cambria"/>
              </a:rPr>
              <a:t> </a:t>
            </a:r>
            <a:r>
              <a:rPr sz="2150" b="1" dirty="0">
                <a:latin typeface="Cambria"/>
                <a:cs typeface="Cambria"/>
              </a:rPr>
              <a:t>(Hardware</a:t>
            </a:r>
            <a:r>
              <a:rPr sz="2150" b="1" spc="60"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Software</a:t>
            </a:r>
            <a:r>
              <a:rPr sz="2150" b="1" spc="75"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Both)</a:t>
            </a:r>
            <a:r>
              <a:rPr sz="2150" b="1" spc="110" dirty="0">
                <a:latin typeface="Cambria"/>
                <a:cs typeface="Cambria"/>
              </a:rPr>
              <a:t> </a:t>
            </a:r>
            <a:r>
              <a:rPr sz="2150" b="1" dirty="0">
                <a:latin typeface="Cambria"/>
                <a:cs typeface="Cambria"/>
              </a:rPr>
              <a:t>:</a:t>
            </a:r>
            <a:r>
              <a:rPr sz="2150" b="1" spc="95" dirty="0">
                <a:latin typeface="Cambria"/>
                <a:cs typeface="Cambria"/>
              </a:rPr>
              <a:t> </a:t>
            </a:r>
            <a:r>
              <a:rPr sz="2150" spc="-10" dirty="0">
                <a:latin typeface="Cambria"/>
                <a:cs typeface="Cambria"/>
              </a:rPr>
              <a:t>Software</a:t>
            </a:r>
            <a:endParaRPr sz="2150" dirty="0">
              <a:latin typeface="Cambria"/>
              <a:cs typeface="Cambria"/>
            </a:endParaRPr>
          </a:p>
          <a:p>
            <a:pPr marL="12065" marR="83820">
              <a:lnSpc>
                <a:spcPct val="103200"/>
              </a:lnSpc>
              <a:spcBef>
                <a:spcPts val="1320"/>
              </a:spcBef>
              <a:buSzPct val="111627"/>
              <a:tabLst>
                <a:tab pos="393700" algn="l"/>
              </a:tabLst>
            </a:pPr>
            <a:r>
              <a:rPr lang="en-IN" sz="2150" b="1" dirty="0">
                <a:latin typeface="Cambria"/>
                <a:cs typeface="Cambria"/>
              </a:rPr>
              <a:t>  </a:t>
            </a:r>
            <a:r>
              <a:rPr sz="2150" b="1" dirty="0">
                <a:latin typeface="Cambria"/>
                <a:cs typeface="Cambria"/>
              </a:rPr>
              <a:t>Problem</a:t>
            </a:r>
            <a:r>
              <a:rPr sz="2150" b="1" spc="135" dirty="0">
                <a:latin typeface="Cambria"/>
                <a:cs typeface="Cambria"/>
              </a:rPr>
              <a:t> </a:t>
            </a:r>
            <a:r>
              <a:rPr sz="2150" b="1" dirty="0">
                <a:latin typeface="Cambria"/>
                <a:cs typeface="Cambria"/>
              </a:rPr>
              <a:t>Description</a:t>
            </a:r>
            <a:r>
              <a:rPr sz="1850" b="1" dirty="0">
                <a:latin typeface="Cambria"/>
                <a:cs typeface="Cambria"/>
              </a:rPr>
              <a:t>:</a:t>
            </a:r>
            <a:endParaRPr lang="en-IN" sz="1850" b="1" dirty="0">
              <a:latin typeface="Cambria"/>
              <a:cs typeface="Cambria"/>
            </a:endParaRPr>
          </a:p>
          <a:p>
            <a:pPr marL="354965" marR="83820" lvl="1" indent="-342900">
              <a:spcBef>
                <a:spcPts val="1320"/>
              </a:spcBef>
              <a:buSzPct val="111627"/>
              <a:buFont typeface="Arial" panose="020B0604020202020204" pitchFamily="34" charset="0"/>
              <a:buChar char="•"/>
              <a:tabLst>
                <a:tab pos="393700" algn="l"/>
              </a:tabLst>
            </a:pPr>
            <a:r>
              <a:rPr lang="en-IN" sz="2000" b="1" dirty="0">
                <a:latin typeface="Cambria"/>
                <a:cs typeface="Cambria"/>
              </a:rPr>
              <a:t> </a:t>
            </a:r>
            <a:r>
              <a:rPr lang="en-US" sz="1700" dirty="0">
                <a:latin typeface="Lucida Fax" panose="02060602050505020204" pitchFamily="18" charset="0"/>
              </a:rPr>
              <a:t>With the increasing adoption of smart city and digital tourism initiatives, there is a growing need for an intelligent, automated, and secure tourist safety solution. By integrating Artificial Intelligence (AI) for risk analysis, Geo-Fencing for location-based monitoring, and Blockchain-based Digital Identity for secure identification, the system can proactively monitor tourist safety and enable rapid incident response. This approach enhances tourist protection, builds trust in tourism services, and supports safer travel experiences</a:t>
            </a:r>
            <a:r>
              <a:rPr lang="en-US" sz="1750" dirty="0">
                <a:latin typeface="Lucida Fax" panose="02060602050505020204" pitchFamily="18" charset="0"/>
              </a:rPr>
              <a:t>.</a:t>
            </a:r>
          </a:p>
          <a:p>
            <a:pPr marL="354965" marR="83820" lvl="1" indent="-342900">
              <a:spcBef>
                <a:spcPts val="1320"/>
              </a:spcBef>
              <a:buSzPct val="111627"/>
              <a:buFont typeface="Arial" panose="020B0604020202020204" pitchFamily="34" charset="0"/>
              <a:buChar char="•"/>
              <a:tabLst>
                <a:tab pos="393700" algn="l"/>
              </a:tabLst>
            </a:pPr>
            <a:r>
              <a:rPr lang="en-US" sz="1750" dirty="0">
                <a:latin typeface="Lucida Fax" panose="02060602050505020204" pitchFamily="18" charset="0"/>
              </a:rPr>
              <a:t> </a:t>
            </a:r>
            <a:r>
              <a:rPr lang="en-US" sz="1700" dirty="0">
                <a:latin typeface="Lucida Fax" panose="02060602050505020204" pitchFamily="18" charset="0"/>
              </a:rPr>
              <a:t>Current systems do not provide real-time monitoring of tourist movement or timely detection of emergencies. The lack of an integrated platform and secure digital identity system causes delays in incident response and tourist verification.</a:t>
            </a:r>
            <a:endParaRPr lang="en-US" sz="1700" dirty="0">
              <a:latin typeface="Lucida Fax" panose="02060602050505020204" pitchFamily="18" charset="0"/>
              <a:cs typeface="Verdana"/>
            </a:endParaRPr>
          </a:p>
          <a:p>
            <a:pPr marL="354965" marR="83820" lvl="1" indent="-342900">
              <a:spcBef>
                <a:spcPts val="1320"/>
              </a:spcBef>
              <a:buSzPct val="111627"/>
              <a:buFont typeface="Arial" panose="020B0604020202020204" pitchFamily="34" charset="0"/>
              <a:buChar char="•"/>
              <a:tabLst>
                <a:tab pos="393700" algn="l"/>
              </a:tabLst>
            </a:pPr>
            <a:endParaRPr lang="en-US" sz="2000" dirty="0">
              <a:latin typeface="Lucida Fax" panose="02060602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BD76-A816-D363-0255-433FBBA59E3C}"/>
              </a:ext>
            </a:extLst>
          </p:cNvPr>
          <p:cNvSpPr>
            <a:spLocks noGrp="1"/>
          </p:cNvSpPr>
          <p:nvPr>
            <p:ph type="title"/>
          </p:nvPr>
        </p:nvSpPr>
        <p:spPr>
          <a:xfrm>
            <a:off x="892175" y="69786"/>
            <a:ext cx="7870190" cy="423193"/>
          </a:xfrm>
        </p:spPr>
        <p:txBody>
          <a:bodyPr/>
          <a:lstStyle/>
          <a:p>
            <a:r>
              <a:rPr lang="en-IN" dirty="0"/>
              <a:t>Abstract : </a:t>
            </a:r>
          </a:p>
        </p:txBody>
      </p:sp>
      <p:sp>
        <p:nvSpPr>
          <p:cNvPr id="3" name="Text Placeholder 2">
            <a:extLst>
              <a:ext uri="{FF2B5EF4-FFF2-40B4-BE49-F238E27FC236}">
                <a16:creationId xmlns:a16="http://schemas.microsoft.com/office/drawing/2014/main" id="{EC1BE2FB-99A3-7209-95DF-A0F3690504E5}"/>
              </a:ext>
            </a:extLst>
          </p:cNvPr>
          <p:cNvSpPr>
            <a:spLocks noGrp="1"/>
          </p:cNvSpPr>
          <p:nvPr>
            <p:ph type="body" idx="1"/>
          </p:nvPr>
        </p:nvSpPr>
        <p:spPr>
          <a:xfrm>
            <a:off x="762000" y="1143000"/>
            <a:ext cx="10646728" cy="5768578"/>
          </a:xfrm>
        </p:spPr>
        <p:txBody>
          <a:bodyPr/>
          <a:lstStyle/>
          <a:p>
            <a:pPr marL="285750" indent="-285750">
              <a:lnSpc>
                <a:spcPct val="150000"/>
              </a:lnSpc>
              <a:buFont typeface="Arial" panose="020B0604020202020204" pitchFamily="34" charset="0"/>
              <a:buChar char="•"/>
            </a:pPr>
            <a:r>
              <a:rPr lang="en-US" sz="1800" dirty="0">
                <a:latin typeface="Lucida Fax" panose="02060602050505020204" pitchFamily="18" charset="0"/>
              </a:rPr>
              <a:t>Tourist safety has become a critical concern due to increasing incidents such as theft, harassment, medical emergencies, and loss of tourists in unfamiliar locations.</a:t>
            </a:r>
          </a:p>
          <a:p>
            <a:pPr marL="285750" indent="-285750">
              <a:lnSpc>
                <a:spcPct val="150000"/>
              </a:lnSpc>
              <a:buFont typeface="Arial" panose="020B0604020202020204" pitchFamily="34" charset="0"/>
              <a:buChar char="•"/>
            </a:pPr>
            <a:r>
              <a:rPr lang="en-US" sz="1800" dirty="0">
                <a:latin typeface="Lucida Fax" panose="02060602050505020204" pitchFamily="18" charset="0"/>
              </a:rPr>
              <a:t>This project proposes a </a:t>
            </a:r>
            <a:r>
              <a:rPr lang="en-US" sz="1800" b="1" dirty="0">
                <a:latin typeface="Lucida Fax" panose="02060602050505020204" pitchFamily="18" charset="0"/>
              </a:rPr>
              <a:t>Smart Tourist Safety Monitoring &amp; Incident Response System</a:t>
            </a:r>
            <a:r>
              <a:rPr lang="en-US" sz="1800" dirty="0">
                <a:latin typeface="Lucida Fax" panose="02060602050505020204" pitchFamily="18" charset="0"/>
              </a:rPr>
              <a:t> that integrates </a:t>
            </a:r>
            <a:r>
              <a:rPr lang="en-US" sz="1800" b="1" dirty="0">
                <a:latin typeface="Lucida Fax" panose="02060602050505020204" pitchFamily="18" charset="0"/>
              </a:rPr>
              <a:t>Artificial Intelligence (AI), Geo-Fencing, and Blockchain-based Digital ID</a:t>
            </a:r>
            <a:r>
              <a:rPr lang="en-US" sz="1800" dirty="0">
                <a:latin typeface="Lucida Fax" panose="02060602050505020204" pitchFamily="18" charset="0"/>
              </a:rPr>
              <a:t> to enhance tourist safety</a:t>
            </a:r>
            <a:r>
              <a:rPr lang="en-US" sz="1800" dirty="0"/>
              <a:t>.</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system continuously monitors tourist movement using geo-fencing, detects abnormal or risky situations using AI-based analytics, and enables rapid incident reporting and response.</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 ensures secure, tamper-proof digital identity management for tourists, improving trust and data integrity.</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proposed solution aims to provide real-time alerts, faster emergency response, and improved coordination among tourists, authorities, and service providers.</a:t>
            </a:r>
          </a:p>
          <a:p>
            <a:endParaRPr lang="en-US" sz="1800" dirty="0">
              <a:latin typeface="Lucida Fax" panose="02060602050505020204" pitchFamily="18" charset="0"/>
            </a:endParaRPr>
          </a:p>
          <a:p>
            <a:endParaRPr lang="en-IN" sz="1800" dirty="0">
              <a:latin typeface="Lucida Fax" panose="02060602050505020204" pitchFamily="18" charset="0"/>
            </a:endParaRPr>
          </a:p>
        </p:txBody>
      </p:sp>
    </p:spTree>
    <p:extLst>
      <p:ext uri="{BB962C8B-B14F-4D97-AF65-F5344CB8AC3E}">
        <p14:creationId xmlns:p14="http://schemas.microsoft.com/office/powerpoint/2010/main" val="203037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7B23A-EDA7-0299-9767-9EC349A8844B}"/>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057F870C-7554-2933-AE6D-7465A9B8534A}"/>
              </a:ext>
            </a:extLst>
          </p:cNvPr>
          <p:cNvSpPr>
            <a:spLocks noGrp="1"/>
          </p:cNvSpPr>
          <p:nvPr>
            <p:ph type="body" idx="1"/>
          </p:nvPr>
        </p:nvSpPr>
        <p:spPr>
          <a:xfrm>
            <a:off x="892176" y="1371600"/>
            <a:ext cx="10385424" cy="2023183"/>
          </a:xfrm>
        </p:spPr>
        <p:txBody>
          <a:bodyPr/>
          <a:lstStyle/>
          <a:p>
            <a:pPr>
              <a:lnSpc>
                <a:spcPct val="150000"/>
              </a:lnSpc>
            </a:pPr>
            <a:r>
              <a:rPr lang="en-US" sz="1800" dirty="0">
                <a:latin typeface="Lucida Fax" panose="02060602050505020204" pitchFamily="18" charset="0"/>
              </a:rPr>
              <a:t>A detailed literature survey was conducted to understand existing research related to </a:t>
            </a:r>
            <a:r>
              <a:rPr lang="en-US" sz="1800" b="1" dirty="0">
                <a:latin typeface="Lucida Fax" panose="02060602050505020204" pitchFamily="18" charset="0"/>
              </a:rPr>
              <a:t>tourist safety systems, AI-based monitoring, geo-fencing technologies, and blockchain-based digital identity management</a:t>
            </a:r>
            <a:r>
              <a:rPr lang="en-US" sz="1800" dirty="0">
                <a:latin typeface="Lucida Fax" panose="02060602050505020204" pitchFamily="18" charset="0"/>
              </a:rPr>
              <a:t>. The review highlights current approaches, contributions, and limitations, which helped in identifying the research gap addressed by the proposed system.</a:t>
            </a:r>
            <a:endParaRPr lang="en-IN" sz="1800" dirty="0">
              <a:latin typeface="Lucida Fax" panose="02060602050505020204" pitchFamily="18" charset="0"/>
            </a:endParaRPr>
          </a:p>
        </p:txBody>
      </p:sp>
    </p:spTree>
    <p:extLst>
      <p:ext uri="{BB962C8B-B14F-4D97-AF65-F5344CB8AC3E}">
        <p14:creationId xmlns:p14="http://schemas.microsoft.com/office/powerpoint/2010/main" val="308841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EB43-F860-AA33-B0D7-0B606FD30B66}"/>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2A71B5B4-AFAF-F44C-647B-44521D667BD2}"/>
              </a:ext>
            </a:extLst>
          </p:cNvPr>
          <p:cNvSpPr>
            <a:spLocks noGrp="1"/>
          </p:cNvSpPr>
          <p:nvPr>
            <p:ph type="body" idx="1"/>
          </p:nvPr>
        </p:nvSpPr>
        <p:spPr>
          <a:xfrm>
            <a:off x="892176" y="1219200"/>
            <a:ext cx="10516552" cy="5078313"/>
          </a:xfrm>
        </p:spPr>
        <p:txBody>
          <a:bodyPr/>
          <a:lstStyle/>
          <a:p>
            <a:r>
              <a:rPr lang="en-IN" b="1" dirty="0">
                <a:latin typeface="Cambria" panose="02040503050406030204" pitchFamily="18" charset="0"/>
                <a:ea typeface="Cambria" panose="02040503050406030204" pitchFamily="18" charset="0"/>
              </a:rPr>
              <a:t>Key Observations from the literature include : </a:t>
            </a:r>
          </a:p>
          <a:p>
            <a:endParaRPr lang="en-IN" b="1" dirty="0">
              <a:latin typeface="Cambria" panose="02040503050406030204" pitchFamily="18" charset="0"/>
              <a:ea typeface="Cambria" panose="02040503050406030204" pitchFamily="18" charset="0"/>
            </a:endParaRPr>
          </a:p>
          <a:p>
            <a:pPr marL="285750" indent="-285750">
              <a:lnSpc>
                <a:spcPct val="150000"/>
              </a:lnSpc>
              <a:buFont typeface="Arial" panose="020B0604020202020204" pitchFamily="34" charset="0"/>
              <a:buChar char="•"/>
            </a:pPr>
            <a:r>
              <a:rPr lang="en-US" sz="1800" dirty="0">
                <a:latin typeface="Lucida Fax" panose="02060602050505020204" pitchFamily="18" charset="0"/>
              </a:rPr>
              <a:t>AI techniques are widely used for </a:t>
            </a:r>
            <a:r>
              <a:rPr lang="en-US" sz="1800" b="1" dirty="0">
                <a:latin typeface="Lucida Fax" panose="02060602050505020204" pitchFamily="18" charset="0"/>
              </a:rPr>
              <a:t>anomaly detection and risk prediction</a:t>
            </a:r>
            <a:r>
              <a:rPr lang="en-US" sz="1800" dirty="0">
                <a:latin typeface="Lucida Fax" panose="02060602050505020204" pitchFamily="18" charset="0"/>
              </a:rPr>
              <a:t>, but many systems lack real-time deployment.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Geo-fencing has proven effective in location-based alerts; however, it is often limited to basic boundary violation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Blockchain-based digital identity systems enhance </a:t>
            </a:r>
            <a:r>
              <a:rPr lang="en-US" sz="1800" b="1" dirty="0">
                <a:latin typeface="Lucida Fax" panose="02060602050505020204" pitchFamily="18" charset="0"/>
              </a:rPr>
              <a:t>security and privacy</a:t>
            </a:r>
            <a:r>
              <a:rPr lang="en-US" sz="1800" dirty="0">
                <a:latin typeface="Lucida Fax" panose="02060602050505020204" pitchFamily="18" charset="0"/>
              </a:rPr>
              <a:t>, but their integration with safety monitoring applications remains limited.</a:t>
            </a:r>
          </a:p>
          <a:p>
            <a:pPr marL="285750" indent="-285750">
              <a:lnSpc>
                <a:spcPct val="150000"/>
              </a:lnSpc>
              <a:buFont typeface="Arial" panose="020B0604020202020204" pitchFamily="34" charset="0"/>
              <a:buChar char="•"/>
            </a:pPr>
            <a:r>
              <a:rPr lang="en-US" sz="1800" dirty="0">
                <a:latin typeface="Lucida Fax" panose="02060602050505020204" pitchFamily="18" charset="0"/>
              </a:rPr>
              <a:t>Existing tourist safety applications rely heavily on </a:t>
            </a:r>
            <a:r>
              <a:rPr lang="en-US" sz="1800" b="1" dirty="0">
                <a:latin typeface="Lucida Fax" panose="02060602050505020204" pitchFamily="18" charset="0"/>
              </a:rPr>
              <a:t>manual reporting</a:t>
            </a:r>
            <a:r>
              <a:rPr lang="en-US" sz="1800" dirty="0">
                <a:latin typeface="Lucida Fax" panose="02060602050505020204" pitchFamily="18" charset="0"/>
              </a:rPr>
              <a:t> and centralized databases, making them vulnerable to data tampering and delayed response.</a:t>
            </a:r>
          </a:p>
          <a:p>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35155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2DC6-CDDA-60B6-16CE-AA0627714722}"/>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A6CDA350-0B91-D914-B5B2-563D6BF6EFE1}"/>
              </a:ext>
            </a:extLst>
          </p:cNvPr>
          <p:cNvSpPr>
            <a:spLocks noGrp="1"/>
          </p:cNvSpPr>
          <p:nvPr>
            <p:ph type="body" idx="1"/>
          </p:nvPr>
        </p:nvSpPr>
        <p:spPr>
          <a:xfrm>
            <a:off x="1044892" y="1167764"/>
            <a:ext cx="10363835" cy="2169825"/>
          </a:xfrm>
        </p:spPr>
        <p:txBody>
          <a:bodyPr/>
          <a:lstStyle/>
          <a:p>
            <a:pPr>
              <a:lnSpc>
                <a:spcPct val="150000"/>
              </a:lnSpc>
            </a:pPr>
            <a:r>
              <a:rPr lang="en-IN" b="1" dirty="0">
                <a:latin typeface="Cambria" panose="02040503050406030204" pitchFamily="18" charset="0"/>
                <a:ea typeface="Cambria" panose="02040503050406030204" pitchFamily="18" charset="0"/>
              </a:rPr>
              <a:t>Research Gap:</a:t>
            </a:r>
          </a:p>
          <a:p>
            <a:pPr marL="285750" indent="-285750">
              <a:lnSpc>
                <a:spcPct val="150000"/>
              </a:lnSpc>
              <a:buFont typeface="Arial" panose="020B0604020202020204" pitchFamily="34" charset="0"/>
              <a:buChar char="•"/>
            </a:pPr>
            <a:r>
              <a:rPr lang="en-US" sz="1800" dirty="0">
                <a:latin typeface="Lucida Fax" panose="02060602050505020204" pitchFamily="18" charset="0"/>
              </a:rPr>
              <a:t>Very few studies integrate </a:t>
            </a:r>
            <a:r>
              <a:rPr lang="en-US" sz="1800" b="1" dirty="0">
                <a:latin typeface="Lucida Fax" panose="02060602050505020204" pitchFamily="18" charset="0"/>
              </a:rPr>
              <a:t>AI + Geo-Fencing + Blockchain</a:t>
            </a:r>
            <a:r>
              <a:rPr lang="en-US" sz="1800" dirty="0">
                <a:latin typeface="Lucida Fax" panose="02060602050505020204" pitchFamily="18" charset="0"/>
              </a:rPr>
              <a:t> into a single, unified tourist safety framework with real-time incident response and secure identity verification.</a:t>
            </a:r>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8012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A45C-92C0-5169-BD73-074E0CAD2941}"/>
              </a:ext>
            </a:extLst>
          </p:cNvPr>
          <p:cNvSpPr>
            <a:spLocks noGrp="1"/>
          </p:cNvSpPr>
          <p:nvPr>
            <p:ph type="title"/>
          </p:nvPr>
        </p:nvSpPr>
        <p:spPr>
          <a:xfrm>
            <a:off x="892175" y="69786"/>
            <a:ext cx="7870190" cy="423193"/>
          </a:xfrm>
        </p:spPr>
        <p:txBody>
          <a:bodyPr/>
          <a:lstStyle/>
          <a:p>
            <a:r>
              <a:rPr lang="en-IN" dirty="0"/>
              <a:t>Objectives : </a:t>
            </a:r>
          </a:p>
        </p:txBody>
      </p:sp>
      <p:sp>
        <p:nvSpPr>
          <p:cNvPr id="3" name="Text Placeholder 2">
            <a:extLst>
              <a:ext uri="{FF2B5EF4-FFF2-40B4-BE49-F238E27FC236}">
                <a16:creationId xmlns:a16="http://schemas.microsoft.com/office/drawing/2014/main" id="{64A45876-A58F-BCD4-FF7B-FEB3D9E61454}"/>
              </a:ext>
            </a:extLst>
          </p:cNvPr>
          <p:cNvSpPr>
            <a:spLocks noGrp="1"/>
          </p:cNvSpPr>
          <p:nvPr>
            <p:ph type="body" idx="1"/>
          </p:nvPr>
        </p:nvSpPr>
        <p:spPr>
          <a:xfrm>
            <a:off x="1044892" y="1167764"/>
            <a:ext cx="10363835" cy="4939814"/>
          </a:xfrm>
        </p:spPr>
        <p:txBody>
          <a:bodyPr/>
          <a:lstStyle/>
          <a:p>
            <a:pPr>
              <a:lnSpc>
                <a:spcPct val="150000"/>
              </a:lnSpc>
            </a:pPr>
            <a:r>
              <a:rPr lang="en-US" b="1" dirty="0">
                <a:latin typeface="Cambria" panose="02040503050406030204" pitchFamily="18" charset="0"/>
                <a:ea typeface="Cambria" panose="02040503050406030204" pitchFamily="18" charset="0"/>
              </a:rPr>
              <a:t>The main objectives of the proposed system are:</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monitor tourist movement in real time using geo-fencing techniques.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detect abnormal or unsafe situations using AI-based analysis.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provide instant alerts and emergency notifications to authorities and emergency contacts.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implement a secure, blockchain-based digital identity system for tourists.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ensure data integrity, privacy, and trust in tourist safety records.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reduce emergency response time during critical incidents.</a:t>
            </a: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1075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EE28-F341-B69F-CA94-85F52F949BD4}"/>
              </a:ext>
            </a:extLst>
          </p:cNvPr>
          <p:cNvSpPr>
            <a:spLocks noGrp="1"/>
          </p:cNvSpPr>
          <p:nvPr>
            <p:ph type="title"/>
          </p:nvPr>
        </p:nvSpPr>
        <p:spPr>
          <a:xfrm>
            <a:off x="892175" y="69786"/>
            <a:ext cx="7870190" cy="423193"/>
          </a:xfrm>
        </p:spPr>
        <p:txBody>
          <a:bodyPr/>
          <a:lstStyle/>
          <a:p>
            <a:r>
              <a:rPr lang="en-IN" dirty="0"/>
              <a:t>Existing Methods and Drawbacks : </a:t>
            </a:r>
          </a:p>
        </p:txBody>
      </p:sp>
      <p:sp>
        <p:nvSpPr>
          <p:cNvPr id="3" name="Text Placeholder 2">
            <a:extLst>
              <a:ext uri="{FF2B5EF4-FFF2-40B4-BE49-F238E27FC236}">
                <a16:creationId xmlns:a16="http://schemas.microsoft.com/office/drawing/2014/main" id="{262516C5-8B88-1FDC-3113-F655E6FAD7C9}"/>
              </a:ext>
            </a:extLst>
          </p:cNvPr>
          <p:cNvSpPr>
            <a:spLocks noGrp="1"/>
          </p:cNvSpPr>
          <p:nvPr>
            <p:ph type="body" idx="1"/>
          </p:nvPr>
        </p:nvSpPr>
        <p:spPr>
          <a:xfrm>
            <a:off x="837724" y="1039712"/>
            <a:ext cx="10516552" cy="4939814"/>
          </a:xfrm>
        </p:spPr>
        <p:txBody>
          <a:bodyPr/>
          <a:lstStyle/>
          <a:p>
            <a:r>
              <a:rPr lang="en-IN" b="1" dirty="0">
                <a:latin typeface="Cambria" panose="02040503050406030204" pitchFamily="18" charset="0"/>
                <a:ea typeface="Cambria" panose="02040503050406030204" pitchFamily="18" charset="0"/>
              </a:rPr>
              <a:t>Existing Methods :</a:t>
            </a:r>
          </a:p>
          <a:p>
            <a:pPr marL="285750" indent="-285750">
              <a:lnSpc>
                <a:spcPct val="150000"/>
              </a:lnSpc>
              <a:buFont typeface="Arial" panose="020B0604020202020204" pitchFamily="34" charset="0"/>
              <a:buChar char="•"/>
            </a:pPr>
            <a:r>
              <a:rPr lang="en-US" sz="1800" dirty="0">
                <a:latin typeface="Lucida Fax" panose="02060602050505020204" pitchFamily="18" charset="0"/>
              </a:rPr>
              <a:t>Mobile safety apps with SOS buttons.</a:t>
            </a:r>
          </a:p>
          <a:p>
            <a:pPr marL="285750" indent="-285750">
              <a:lnSpc>
                <a:spcPct val="150000"/>
              </a:lnSpc>
              <a:buFont typeface="Arial" panose="020B0604020202020204" pitchFamily="34" charset="0"/>
              <a:buChar char="•"/>
            </a:pPr>
            <a:r>
              <a:rPr lang="en-IN" sz="1800" dirty="0">
                <a:latin typeface="Lucida Fax" panose="02060602050505020204" pitchFamily="18" charset="0"/>
              </a:rPr>
              <a:t>GPS-based tracking systems.</a:t>
            </a:r>
          </a:p>
          <a:p>
            <a:pPr marL="285750" indent="-285750">
              <a:lnSpc>
                <a:spcPct val="150000"/>
              </a:lnSpc>
              <a:buFont typeface="Arial" panose="020B0604020202020204" pitchFamily="34" charset="0"/>
              <a:buChar char="•"/>
            </a:pPr>
            <a:r>
              <a:rPr lang="en-IN" sz="1800" dirty="0">
                <a:latin typeface="Lucida Fax" panose="02060602050505020204" pitchFamily="18" charset="0"/>
              </a:rPr>
              <a:t>Centralized tourist databases.</a:t>
            </a:r>
          </a:p>
          <a:p>
            <a:pPr marL="285750" indent="-285750">
              <a:lnSpc>
                <a:spcPct val="150000"/>
              </a:lnSpc>
              <a:buFont typeface="Arial" panose="020B0604020202020204" pitchFamily="34" charset="0"/>
              <a:buChar char="•"/>
            </a:pPr>
            <a:r>
              <a:rPr lang="en-IN" sz="1800" dirty="0">
                <a:latin typeface="Lucida Fax" panose="02060602050505020204" pitchFamily="18" charset="0"/>
              </a:rPr>
              <a:t>Manual incident reporting mechanisms.</a:t>
            </a:r>
          </a:p>
          <a:p>
            <a:pPr>
              <a:lnSpc>
                <a:spcPct val="150000"/>
              </a:lnSpc>
            </a:pPr>
            <a:r>
              <a:rPr lang="en-IN" b="1" dirty="0">
                <a:latin typeface="Cambria" panose="02040503050406030204" pitchFamily="18" charset="0"/>
                <a:ea typeface="Cambria" panose="02040503050406030204" pitchFamily="18" charset="0"/>
              </a:rPr>
              <a:t>Drawbacks :</a:t>
            </a:r>
          </a:p>
          <a:p>
            <a:pPr marL="285750" indent="-285750">
              <a:lnSpc>
                <a:spcPct val="150000"/>
              </a:lnSpc>
              <a:buFont typeface="Arial" panose="020B0604020202020204" pitchFamily="34" charset="0"/>
              <a:buChar char="•"/>
            </a:pPr>
            <a:r>
              <a:rPr lang="en-US" sz="1800" dirty="0">
                <a:latin typeface="Lucida Fax" panose="02060602050505020204" pitchFamily="18" charset="0"/>
              </a:rPr>
              <a:t>Lack of real-time intelligent threat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Heavy dependency on user-initiated alerts.</a:t>
            </a:r>
          </a:p>
          <a:p>
            <a:pPr marL="285750" indent="-285750">
              <a:lnSpc>
                <a:spcPct val="150000"/>
              </a:lnSpc>
              <a:buFont typeface="Arial" panose="020B0604020202020204" pitchFamily="34" charset="0"/>
              <a:buChar char="•"/>
            </a:pPr>
            <a:r>
              <a:rPr lang="en-US" sz="1800" dirty="0">
                <a:latin typeface="Lucida Fax" panose="02060602050505020204" pitchFamily="18" charset="0"/>
              </a:rPr>
              <a:t>Centralized databases prone to data tampering and single-point failure</a:t>
            </a:r>
          </a:p>
          <a:p>
            <a:pPr marL="285750" indent="-285750">
              <a:lnSpc>
                <a:spcPct val="150000"/>
              </a:lnSpc>
              <a:buFont typeface="Arial" panose="020B0604020202020204" pitchFamily="34" charset="0"/>
              <a:buChar char="•"/>
            </a:pPr>
            <a:r>
              <a:rPr lang="en-US" sz="1800" dirty="0">
                <a:latin typeface="Lucida Fax" panose="02060602050505020204" pitchFamily="18" charset="0"/>
              </a:rPr>
              <a:t>No secure and verifiable tourist identity management.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Delayed response from authorities due to poor system integration.</a:t>
            </a:r>
            <a:endParaRPr lang="en-IN" sz="1800" b="1" dirty="0">
              <a:latin typeface="Lucida Fax" panose="02060602050505020204" pitchFamily="18" charset="0"/>
              <a:ea typeface="Cambria" panose="02040503050406030204" pitchFamily="18" charset="0"/>
            </a:endParaRPr>
          </a:p>
          <a:p>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2738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3262-62D4-599C-609C-8D6214BBC79D}"/>
              </a:ext>
            </a:extLst>
          </p:cNvPr>
          <p:cNvSpPr>
            <a:spLocks noGrp="1"/>
          </p:cNvSpPr>
          <p:nvPr>
            <p:ph type="title"/>
          </p:nvPr>
        </p:nvSpPr>
        <p:spPr>
          <a:xfrm>
            <a:off x="892175" y="69786"/>
            <a:ext cx="7870190" cy="423193"/>
          </a:xfrm>
        </p:spPr>
        <p:txBody>
          <a:bodyPr/>
          <a:lstStyle/>
          <a:p>
            <a:r>
              <a:rPr lang="en-IN" dirty="0"/>
              <a:t>Proposed Method &amp; Feasibility Study : </a:t>
            </a:r>
          </a:p>
        </p:txBody>
      </p:sp>
      <p:sp>
        <p:nvSpPr>
          <p:cNvPr id="3" name="Text Placeholder 2">
            <a:extLst>
              <a:ext uri="{FF2B5EF4-FFF2-40B4-BE49-F238E27FC236}">
                <a16:creationId xmlns:a16="http://schemas.microsoft.com/office/drawing/2014/main" id="{C59F763D-8B0D-6C36-836D-054A58F26B0D}"/>
              </a:ext>
            </a:extLst>
          </p:cNvPr>
          <p:cNvSpPr>
            <a:spLocks noGrp="1"/>
          </p:cNvSpPr>
          <p:nvPr>
            <p:ph type="body" idx="1"/>
          </p:nvPr>
        </p:nvSpPr>
        <p:spPr>
          <a:xfrm>
            <a:off x="892175" y="1084587"/>
            <a:ext cx="10516552" cy="5763116"/>
          </a:xfrm>
        </p:spPr>
        <p:txBody>
          <a:bodyPr/>
          <a:lstStyle/>
          <a:p>
            <a:pPr>
              <a:lnSpc>
                <a:spcPct val="150000"/>
              </a:lnSpc>
            </a:pPr>
            <a:r>
              <a:rPr lang="en-IN" b="1" dirty="0">
                <a:latin typeface="Cambria" panose="02040503050406030204" pitchFamily="18" charset="0"/>
                <a:ea typeface="Cambria" panose="02040503050406030204" pitchFamily="18" charset="0"/>
              </a:rPr>
              <a:t>Proposed Method:</a:t>
            </a:r>
          </a:p>
          <a:p>
            <a:pPr>
              <a:lnSpc>
                <a:spcPct val="150000"/>
              </a:lnSpc>
            </a:pPr>
            <a:r>
              <a:rPr lang="en-IN" dirty="0">
                <a:latin typeface="Cambria" panose="02040503050406030204" pitchFamily="18" charset="0"/>
                <a:ea typeface="Cambria" panose="02040503050406030204" pitchFamily="18" charset="0"/>
              </a:rPr>
              <a:t>The proposed system combines :</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modules</a:t>
            </a:r>
            <a:r>
              <a:rPr lang="en-US" sz="1800" dirty="0">
                <a:latin typeface="Lucida Fax" panose="02060602050505020204" pitchFamily="18" charset="0"/>
              </a:rPr>
              <a:t> to analyze movement patterns and detect anomalies.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Geo-Fencing</a:t>
            </a:r>
            <a:r>
              <a:rPr lang="en-US" sz="1800" dirty="0">
                <a:latin typeface="Lucida Fax" panose="02060602050505020204" pitchFamily="18" charset="0"/>
              </a:rPr>
              <a:t> to define safe and restricted zones for tourists.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Blockchain-based Digital ID</a:t>
            </a:r>
            <a:r>
              <a:rPr lang="en-US" sz="1800" dirty="0">
                <a:latin typeface="Lucida Fax" panose="02060602050505020204" pitchFamily="18" charset="0"/>
              </a:rPr>
              <a:t> to store verified tourist identity details securely.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Automated alert system</a:t>
            </a:r>
            <a:r>
              <a:rPr lang="en-US" sz="1800" dirty="0">
                <a:latin typeface="Lucida Fax" panose="02060602050505020204" pitchFamily="18" charset="0"/>
              </a:rPr>
              <a:t> for real-time incident reporting to authorities.</a:t>
            </a:r>
          </a:p>
          <a:p>
            <a:pPr>
              <a:lnSpc>
                <a:spcPct val="150000"/>
              </a:lnSpc>
            </a:pPr>
            <a:r>
              <a:rPr lang="en-IN" b="1" dirty="0">
                <a:latin typeface="Cambria" panose="02040503050406030204" pitchFamily="18" charset="0"/>
                <a:ea typeface="Cambria" panose="02040503050406030204" pitchFamily="18" charset="0"/>
              </a:rPr>
              <a:t>Feasibility Study: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Technical Feasibility:</a:t>
            </a:r>
            <a:r>
              <a:rPr lang="en-US" sz="1800" dirty="0">
                <a:latin typeface="Lucida Fax" panose="02060602050505020204" pitchFamily="18" charset="0"/>
              </a:rPr>
              <a:t> Uses existing technologies such as GPS, AI models, and blockchain platforms.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Economic Feasibility:</a:t>
            </a:r>
            <a:r>
              <a:rPr lang="en-US" sz="1800" dirty="0">
                <a:latin typeface="Lucida Fax" panose="02060602050505020204" pitchFamily="18" charset="0"/>
              </a:rPr>
              <a:t> Minimal hardware requirements; mainly software-based implementation.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Operational Feasibility:</a:t>
            </a:r>
            <a:r>
              <a:rPr lang="en-US" sz="1800" dirty="0">
                <a:latin typeface="Lucida Fax" panose="02060602050505020204" pitchFamily="18" charset="0"/>
              </a:rPr>
              <a:t> Easy to use for tourists and authorities through mobile and web interfaces.</a:t>
            </a:r>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34395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79E74-2984-C009-E0BE-85731B6AC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219200"/>
            <a:ext cx="7620000" cy="5076825"/>
          </a:xfrm>
          <a:prstGeom prst="rect">
            <a:avLst/>
          </a:prstGeom>
        </p:spPr>
      </p:pic>
      <p:sp>
        <p:nvSpPr>
          <p:cNvPr id="5" name="TextBox 4">
            <a:extLst>
              <a:ext uri="{FF2B5EF4-FFF2-40B4-BE49-F238E27FC236}">
                <a16:creationId xmlns:a16="http://schemas.microsoft.com/office/drawing/2014/main" id="{408B9606-1D24-9752-4211-56BD6A953684}"/>
              </a:ext>
            </a:extLst>
          </p:cNvPr>
          <p:cNvSpPr txBox="1"/>
          <p:nvPr/>
        </p:nvSpPr>
        <p:spPr>
          <a:xfrm>
            <a:off x="1066800" y="304800"/>
            <a:ext cx="6400800" cy="515526"/>
          </a:xfrm>
          <a:prstGeom prst="rect">
            <a:avLst/>
          </a:prstGeom>
          <a:noFill/>
        </p:spPr>
        <p:txBody>
          <a:bodyPr wrap="square" rtlCol="0">
            <a:spAutoFit/>
          </a:bodyPr>
          <a:lstStyle/>
          <a:p>
            <a:r>
              <a:rPr lang="en-IN" sz="2750" b="1" dirty="0">
                <a:solidFill>
                  <a:schemeClr val="tx2"/>
                </a:solidFill>
                <a:latin typeface="Cambria" panose="02040503050406030204" pitchFamily="18" charset="0"/>
                <a:ea typeface="Cambria" panose="02040503050406030204" pitchFamily="18" charset="0"/>
              </a:rPr>
              <a:t>Architecture Diagram :</a:t>
            </a:r>
          </a:p>
        </p:txBody>
      </p:sp>
    </p:spTree>
    <p:extLst>
      <p:ext uri="{BB962C8B-B14F-4D97-AF65-F5344CB8AC3E}">
        <p14:creationId xmlns:p14="http://schemas.microsoft.com/office/powerpoint/2010/main" val="357188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D62A-087B-79AE-9E3D-E4C300FC15DA}"/>
              </a:ext>
            </a:extLst>
          </p:cNvPr>
          <p:cNvSpPr>
            <a:spLocks noGrp="1"/>
          </p:cNvSpPr>
          <p:nvPr>
            <p:ph type="title"/>
          </p:nvPr>
        </p:nvSpPr>
        <p:spPr>
          <a:xfrm>
            <a:off x="892175" y="69786"/>
            <a:ext cx="7870190" cy="423193"/>
          </a:xfrm>
        </p:spPr>
        <p:txBody>
          <a:bodyPr/>
          <a:lstStyle/>
          <a:p>
            <a:r>
              <a:rPr lang="en-IN" dirty="0"/>
              <a:t>Modules : </a:t>
            </a:r>
          </a:p>
        </p:txBody>
      </p:sp>
      <p:sp>
        <p:nvSpPr>
          <p:cNvPr id="3" name="Text Placeholder 2">
            <a:extLst>
              <a:ext uri="{FF2B5EF4-FFF2-40B4-BE49-F238E27FC236}">
                <a16:creationId xmlns:a16="http://schemas.microsoft.com/office/drawing/2014/main" id="{31631BA9-5E08-EDEF-157D-CBCC21D516F7}"/>
              </a:ext>
            </a:extLst>
          </p:cNvPr>
          <p:cNvSpPr>
            <a:spLocks noGrp="1"/>
          </p:cNvSpPr>
          <p:nvPr>
            <p:ph type="body" idx="1"/>
          </p:nvPr>
        </p:nvSpPr>
        <p:spPr>
          <a:xfrm>
            <a:off x="892175" y="1524000"/>
            <a:ext cx="10363835" cy="2439129"/>
          </a:xfrm>
        </p:spPr>
        <p:txBody>
          <a:bodyPr/>
          <a:lstStyle/>
          <a:p>
            <a:pPr marL="285750" indent="-285750">
              <a:lnSpc>
                <a:spcPct val="150000"/>
              </a:lnSpc>
              <a:buFont typeface="Arial" panose="020B0604020202020204" pitchFamily="34" charset="0"/>
              <a:buChar char="•"/>
            </a:pPr>
            <a:r>
              <a:rPr lang="en-US" sz="1800" b="1" dirty="0">
                <a:latin typeface="Lucida Fax" panose="02060602050505020204" pitchFamily="18" charset="0"/>
              </a:rPr>
              <a:t>Tourist Registration Module</a:t>
            </a:r>
            <a:r>
              <a:rPr lang="en-US" sz="1800" dirty="0">
                <a:latin typeface="Lucida Fax" panose="02060602050505020204" pitchFamily="18" charset="0"/>
              </a:rPr>
              <a:t> – Blockchain-based digital ID creation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Location Tracking Module</a:t>
            </a:r>
            <a:r>
              <a:rPr lang="en-US" sz="1800" dirty="0">
                <a:latin typeface="Lucida Fax" panose="02060602050505020204" pitchFamily="18" charset="0"/>
              </a:rPr>
              <a:t> – Real-time GPS tracking and geo-fencing.</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Risk Detection Module</a:t>
            </a:r>
            <a:r>
              <a:rPr lang="en-US" sz="1800" dirty="0">
                <a:latin typeface="Lucida Fax" panose="02060602050505020204" pitchFamily="18" charset="0"/>
              </a:rPr>
              <a:t> – Detects abnormal patterns and threats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Incident Reporting Module</a:t>
            </a:r>
            <a:r>
              <a:rPr lang="en-US" sz="1800" dirty="0">
                <a:latin typeface="Lucida Fax" panose="02060602050505020204" pitchFamily="18" charset="0"/>
              </a:rPr>
              <a:t> – Automatic and manual incident alerts.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 Security Module</a:t>
            </a:r>
            <a:r>
              <a:rPr lang="en-US" sz="1800" dirty="0">
                <a:latin typeface="Lucida Fax" panose="02060602050505020204" pitchFamily="18" charset="0"/>
              </a:rPr>
              <a:t> – Ensures data integrity and authentication.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Authority Response Module</a:t>
            </a:r>
            <a:r>
              <a:rPr lang="en-US" sz="1800" dirty="0">
                <a:latin typeface="Lucida Fax" panose="02060602050505020204" pitchFamily="18" charset="0"/>
              </a:rPr>
              <a:t> – Dashboard for police and emergency teams.</a:t>
            </a:r>
            <a:endParaRPr lang="en-IN" sz="1800" dirty="0">
              <a:latin typeface="Lucida Fax" panose="02060602050505020204" pitchFamily="18" charset="0"/>
            </a:endParaRPr>
          </a:p>
        </p:txBody>
      </p:sp>
    </p:spTree>
    <p:extLst>
      <p:ext uri="{BB962C8B-B14F-4D97-AF65-F5344CB8AC3E}">
        <p14:creationId xmlns:p14="http://schemas.microsoft.com/office/powerpoint/2010/main" val="421799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75EA-6B1B-FDFF-3CA3-991B4B6E08B6}"/>
              </a:ext>
            </a:extLst>
          </p:cNvPr>
          <p:cNvSpPr>
            <a:spLocks noGrp="1"/>
          </p:cNvSpPr>
          <p:nvPr>
            <p:ph type="title"/>
          </p:nvPr>
        </p:nvSpPr>
        <p:spPr>
          <a:xfrm>
            <a:off x="892175" y="69786"/>
            <a:ext cx="7870190" cy="423193"/>
          </a:xfrm>
        </p:spPr>
        <p:txBody>
          <a:bodyPr/>
          <a:lstStyle/>
          <a:p>
            <a:r>
              <a:rPr lang="en-IN" dirty="0"/>
              <a:t>Hardware and Software Details : </a:t>
            </a:r>
          </a:p>
        </p:txBody>
      </p:sp>
      <p:sp>
        <p:nvSpPr>
          <p:cNvPr id="3" name="Text Placeholder 2">
            <a:extLst>
              <a:ext uri="{FF2B5EF4-FFF2-40B4-BE49-F238E27FC236}">
                <a16:creationId xmlns:a16="http://schemas.microsoft.com/office/drawing/2014/main" id="{7A1A83F0-333F-777E-0DC3-B416D09C08DE}"/>
              </a:ext>
            </a:extLst>
          </p:cNvPr>
          <p:cNvSpPr>
            <a:spLocks noGrp="1"/>
          </p:cNvSpPr>
          <p:nvPr>
            <p:ph type="body" idx="1"/>
          </p:nvPr>
        </p:nvSpPr>
        <p:spPr>
          <a:xfrm>
            <a:off x="892175" y="1143000"/>
            <a:ext cx="10363835" cy="4939814"/>
          </a:xfrm>
        </p:spPr>
        <p:txBody>
          <a:bodyPr/>
          <a:lstStyle/>
          <a:p>
            <a:pPr>
              <a:lnSpc>
                <a:spcPct val="150000"/>
              </a:lnSpc>
            </a:pPr>
            <a:r>
              <a:rPr lang="en-IN" b="1" dirty="0">
                <a:latin typeface="Cambria" panose="02040503050406030204" pitchFamily="18" charset="0"/>
                <a:ea typeface="Cambria" panose="02040503050406030204" pitchFamily="18" charset="0"/>
              </a:rPr>
              <a:t>Hardware :</a:t>
            </a:r>
          </a:p>
          <a:p>
            <a:pPr marL="285750" indent="-285750">
              <a:lnSpc>
                <a:spcPct val="150000"/>
              </a:lnSpc>
              <a:buFont typeface="Arial" panose="020B0604020202020204" pitchFamily="34" charset="0"/>
              <a:buChar char="•"/>
            </a:pPr>
            <a:r>
              <a:rPr lang="en-IN" sz="1800" dirty="0">
                <a:latin typeface="Lucida Fax" panose="02060602050505020204" pitchFamily="18" charset="0"/>
              </a:rPr>
              <a:t>Smartphone with GPS</a:t>
            </a:r>
          </a:p>
          <a:p>
            <a:pPr marL="285750" indent="-285750">
              <a:lnSpc>
                <a:spcPct val="150000"/>
              </a:lnSpc>
              <a:buFont typeface="Arial" panose="020B0604020202020204" pitchFamily="34" charset="0"/>
              <a:buChar char="•"/>
            </a:pPr>
            <a:r>
              <a:rPr lang="en-IN" sz="1800" dirty="0">
                <a:latin typeface="Lucida Fax" panose="02060602050505020204" pitchFamily="18" charset="0"/>
              </a:rPr>
              <a:t>Server / Cloud Infrastructure</a:t>
            </a:r>
          </a:p>
          <a:p>
            <a:pPr>
              <a:lnSpc>
                <a:spcPct val="150000"/>
              </a:lnSpc>
            </a:pPr>
            <a:endParaRPr lang="en-IN" dirty="0"/>
          </a:p>
          <a:p>
            <a:pPr>
              <a:lnSpc>
                <a:spcPct val="150000"/>
              </a:lnSpc>
            </a:pPr>
            <a:r>
              <a:rPr lang="en-IN" b="1" dirty="0">
                <a:latin typeface="Cambria" panose="02040503050406030204" pitchFamily="18" charset="0"/>
                <a:ea typeface="Cambria" panose="02040503050406030204" pitchFamily="18" charset="0"/>
              </a:rPr>
              <a:t>Software:</a:t>
            </a:r>
          </a:p>
          <a:p>
            <a:pPr marL="285750" indent="-285750">
              <a:lnSpc>
                <a:spcPct val="150000"/>
              </a:lnSpc>
              <a:buFont typeface="Arial" panose="020B0604020202020204" pitchFamily="34" charset="0"/>
              <a:buChar char="•"/>
            </a:pPr>
            <a:r>
              <a:rPr lang="en-IN" sz="1800" dirty="0">
                <a:latin typeface="Lucida Fax" panose="02060602050505020204" pitchFamily="18" charset="0"/>
              </a:rPr>
              <a:t>Programming Language: Python / Java</a:t>
            </a:r>
          </a:p>
          <a:p>
            <a:pPr marL="285750" indent="-285750">
              <a:lnSpc>
                <a:spcPct val="150000"/>
              </a:lnSpc>
              <a:buFont typeface="Arial" panose="020B0604020202020204" pitchFamily="34" charset="0"/>
              <a:buChar char="•"/>
            </a:pPr>
            <a:r>
              <a:rPr lang="en-IN" sz="1800" dirty="0">
                <a:latin typeface="Lucida Fax" panose="02060602050505020204" pitchFamily="18" charset="0"/>
              </a:rPr>
              <a:t>Frontend: Android / Web Application</a:t>
            </a:r>
          </a:p>
          <a:p>
            <a:pPr marL="285750" indent="-285750">
              <a:lnSpc>
                <a:spcPct val="150000"/>
              </a:lnSpc>
              <a:buFont typeface="Arial" panose="020B0604020202020204" pitchFamily="34" charset="0"/>
              <a:buChar char="•"/>
            </a:pPr>
            <a:r>
              <a:rPr lang="en-IN" sz="1800" dirty="0">
                <a:latin typeface="Lucida Fax" panose="02060602050505020204" pitchFamily="18" charset="0"/>
              </a:rPr>
              <a:t>Backend: Flask / Spring Boot</a:t>
            </a:r>
          </a:p>
          <a:p>
            <a:pPr marL="285750" indent="-285750">
              <a:lnSpc>
                <a:spcPct val="150000"/>
              </a:lnSpc>
              <a:buFont typeface="Arial" panose="020B0604020202020204" pitchFamily="34" charset="0"/>
              <a:buChar char="•"/>
            </a:pPr>
            <a:r>
              <a:rPr lang="en-IN" sz="1800" dirty="0">
                <a:latin typeface="Lucida Fax" panose="02060602050505020204" pitchFamily="18" charset="0"/>
              </a:rPr>
              <a:t>Blockchain Platform: Ethereum / Hyperledger</a:t>
            </a:r>
          </a:p>
          <a:p>
            <a:pPr marL="285750" indent="-285750">
              <a:lnSpc>
                <a:spcPct val="150000"/>
              </a:lnSpc>
              <a:buFont typeface="Arial" panose="020B0604020202020204" pitchFamily="34" charset="0"/>
              <a:buChar char="•"/>
            </a:pPr>
            <a:r>
              <a:rPr lang="nl-NL" sz="1800" dirty="0">
                <a:latin typeface="Lucida Fax" panose="02060602050505020204" pitchFamily="18" charset="0"/>
              </a:rPr>
              <a:t>Tools: VS Code, Android Studio</a:t>
            </a:r>
            <a:endParaRPr lang="en-IN" sz="1800" dirty="0">
              <a:latin typeface="Lucida Fax" panose="02060602050505020204" pitchFamily="18" charset="0"/>
            </a:endParaRPr>
          </a:p>
          <a:p>
            <a:endParaRPr lang="en-IN" b="1" dirty="0">
              <a:latin typeface="Cambria" panose="02040503050406030204" pitchFamily="18" charset="0"/>
              <a:ea typeface="Cambria" panose="02040503050406030204" pitchFamily="18" charset="0"/>
            </a:endParaRPr>
          </a:p>
        </p:txBody>
      </p:sp>
      <p:sp>
        <p:nvSpPr>
          <p:cNvPr id="5" name="Rectangle 2">
            <a:extLst>
              <a:ext uri="{FF2B5EF4-FFF2-40B4-BE49-F238E27FC236}">
                <a16:creationId xmlns:a16="http://schemas.microsoft.com/office/drawing/2014/main" id="{00584CCF-C81E-309F-3899-128A59FE2D2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Database: MySQL / MongoDB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363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615D1C85-5433-7C72-D1CA-6546DFB4989F}"/>
              </a:ext>
            </a:extLst>
          </p:cNvPr>
          <p:cNvSpPr>
            <a:spLocks noChangeAspect="1" noChangeArrowheads="1"/>
          </p:cNvSpPr>
          <p:nvPr/>
        </p:nvSpPr>
        <p:spPr bwMode="auto">
          <a:xfrm>
            <a:off x="0" y="419100"/>
            <a:ext cx="12192000" cy="601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6D5DBC2-E9DC-0931-6D29-6208523B5B93}"/>
              </a:ext>
            </a:extLst>
          </p:cNvPr>
          <p:cNvPicPr>
            <a:picLocks noChangeAspect="1"/>
          </p:cNvPicPr>
          <p:nvPr/>
        </p:nvPicPr>
        <p:blipFill>
          <a:blip r:embed="rId3"/>
          <a:stretch>
            <a:fillRect/>
          </a:stretch>
        </p:blipFill>
        <p:spPr>
          <a:xfrm>
            <a:off x="812800" y="1143000"/>
            <a:ext cx="7817638" cy="468752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Github</a:t>
            </a:r>
            <a:r>
              <a:rPr spc="105" dirty="0"/>
              <a:t> </a:t>
            </a:r>
            <a:r>
              <a:rPr spc="-20" dirty="0"/>
              <a:t>Link</a:t>
            </a:r>
          </a:p>
        </p:txBody>
      </p:sp>
      <p:sp>
        <p:nvSpPr>
          <p:cNvPr id="3" name="object 3"/>
          <p:cNvSpPr txBox="1"/>
          <p:nvPr/>
        </p:nvSpPr>
        <p:spPr>
          <a:xfrm>
            <a:off x="1044892" y="1167764"/>
            <a:ext cx="8287384" cy="1503617"/>
          </a:xfrm>
          <a:prstGeom prst="rect">
            <a:avLst/>
          </a:prstGeom>
        </p:spPr>
        <p:txBody>
          <a:bodyPr vert="horz" wrap="square" lIns="0" tIns="13335" rIns="0" bIns="0" rtlCol="0">
            <a:spAutoFit/>
          </a:bodyPr>
          <a:lstStyle/>
          <a:p>
            <a:pPr>
              <a:lnSpc>
                <a:spcPct val="100000"/>
              </a:lnSpc>
              <a:spcBef>
                <a:spcPts val="90"/>
              </a:spcBef>
            </a:pPr>
            <a:r>
              <a:rPr lang="en-IN" sz="2400" dirty="0">
                <a:latin typeface="Cambria"/>
                <a:cs typeface="Cambria"/>
                <a:hlinkClick r:id="rId2"/>
              </a:rPr>
              <a:t>https://github.com/Nelakurthi-Sai-Sandeep-reddy/Smart-Tourist-Safety-Monitoring-Incident-Response-System-using-Al-Geo-Fencing-and-Blockchain</a:t>
            </a:r>
            <a:endParaRPr lang="en-IN" sz="2400" dirty="0">
              <a:latin typeface="Cambria"/>
              <a:cs typeface="Cambria"/>
            </a:endParaRPr>
          </a:p>
          <a:p>
            <a:pPr>
              <a:lnSpc>
                <a:spcPct val="100000"/>
              </a:lnSpc>
              <a:spcBef>
                <a:spcPts val="90"/>
              </a:spcBef>
            </a:pPr>
            <a:endParaRPr sz="2400" dirty="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371600"/>
            <a:ext cx="10614025" cy="3452868"/>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[1].</a:t>
            </a:r>
            <a:r>
              <a:rPr spc="-60" dirty="0">
                <a:latin typeface="Bookman Old Style" panose="02050604050505020204" pitchFamily="18" charset="0"/>
                <a:cs typeface="Verdana"/>
              </a:rPr>
              <a:t> </a:t>
            </a:r>
            <a:r>
              <a:rPr lang="en-IN" dirty="0">
                <a:latin typeface="Bookman Old Style" panose="02050604050505020204" pitchFamily="18" charset="0"/>
                <a:ea typeface="Verdana" panose="020B0604030504040204" pitchFamily="34" charset="0"/>
              </a:rPr>
              <a:t>Chaudhuri, R., Chatterjee, S., &amp; </a:t>
            </a:r>
            <a:r>
              <a:rPr lang="en-IN" dirty="0" err="1">
                <a:latin typeface="Bookman Old Style" panose="02050604050505020204" pitchFamily="18" charset="0"/>
                <a:ea typeface="Verdana" panose="020B0604030504040204" pitchFamily="34" charset="0"/>
              </a:rPr>
              <a:t>Vrontis</a:t>
            </a:r>
            <a:r>
              <a:rPr lang="en-IN" dirty="0">
                <a:latin typeface="Bookman Old Style" panose="02050604050505020204" pitchFamily="18" charset="0"/>
                <a:ea typeface="Verdana" panose="020B0604030504040204" pitchFamily="34" charset="0"/>
              </a:rPr>
              <a:t>, D. (2024). </a:t>
            </a:r>
            <a:r>
              <a:rPr lang="en-IN" i="1" dirty="0">
                <a:latin typeface="Bookman Old Style" panose="02050604050505020204" pitchFamily="18" charset="0"/>
                <a:ea typeface="Verdana" panose="020B0604030504040204" pitchFamily="34" charset="0"/>
              </a:rPr>
              <a:t>Blockchain technology for protecting and validating transactions in the travel and tourism sector.</a:t>
            </a:r>
            <a:r>
              <a:rPr lang="en-IN" dirty="0">
                <a:latin typeface="Bookman Old Style" panose="02050604050505020204" pitchFamily="18" charset="0"/>
                <a:ea typeface="Verdana" panose="020B0604030504040204" pitchFamily="34" charset="0"/>
              </a:rPr>
              <a:t> Revista de </a:t>
            </a:r>
            <a:r>
              <a:rPr lang="en-IN" dirty="0" err="1">
                <a:latin typeface="Bookman Old Style" panose="02050604050505020204" pitchFamily="18" charset="0"/>
                <a:ea typeface="Verdana" panose="020B0604030504040204" pitchFamily="34" charset="0"/>
              </a:rPr>
              <a:t>Gestão</a:t>
            </a:r>
            <a:r>
              <a:rPr lang="en-IN" dirty="0">
                <a:latin typeface="Bookman Old Style" panose="02050604050505020204" pitchFamily="18" charset="0"/>
                <a:ea typeface="Verdana" panose="020B0604030504040204" pitchFamily="34" charset="0"/>
              </a:rPr>
              <a:t>, Emerald Publishing. [Focus: Fraud reduction and data privacy].</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[2].</a:t>
            </a:r>
            <a:r>
              <a:rPr lang="en-US" b="1" dirty="0">
                <a:latin typeface="Bookman Old Style" panose="02050604050505020204" pitchFamily="18" charset="0"/>
              </a:rPr>
              <a:t> </a:t>
            </a:r>
            <a:r>
              <a:rPr lang="en-US" dirty="0" err="1">
                <a:latin typeface="Bookman Old Style" panose="02050604050505020204" pitchFamily="18" charset="0"/>
                <a:ea typeface="Verdana" panose="020B0604030504040204" pitchFamily="34" charset="0"/>
              </a:rPr>
              <a:t>Wörndl</a:t>
            </a:r>
            <a:r>
              <a:rPr lang="en-US" dirty="0">
                <a:latin typeface="Bookman Old Style" panose="02050604050505020204" pitchFamily="18" charset="0"/>
                <a:ea typeface="Verdana" panose="020B0604030504040204" pitchFamily="34" charset="0"/>
              </a:rPr>
              <a:t>, W., &amp; Herzog, D. (2020):</a:t>
            </a:r>
            <a:r>
              <a:rPr lang="en-US" i="1" dirty="0">
                <a:latin typeface="Bookman Old Style" panose="02050604050505020204" pitchFamily="18" charset="0"/>
                <a:ea typeface="Verdana" panose="020B0604030504040204" pitchFamily="34" charset="0"/>
              </a:rPr>
              <a:t>Smart tourism service systems based on IoT and machine learning for      optimized resource utilization.</a:t>
            </a:r>
            <a:r>
              <a:rPr lang="en-US" dirty="0">
                <a:latin typeface="Bookman Old Style" panose="02050604050505020204" pitchFamily="18" charset="0"/>
                <a:ea typeface="Verdana" panose="020B0604030504040204" pitchFamily="34" charset="0"/>
              </a:rPr>
              <a:t> Journal of Intelligent &amp; Fuzzy Systems. [Focus: Safety monitoring in rural areas].</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lang="en-US" dirty="0">
                <a:latin typeface="Verdana" panose="020B0604030504040204" pitchFamily="34" charset="0"/>
                <a:ea typeface="Verdana" panose="020B0604030504040204" pitchFamily="34" charset="0"/>
              </a:rPr>
              <a:t> </a:t>
            </a:r>
            <a:r>
              <a:rPr spc="-20" dirty="0">
                <a:latin typeface="Bookman Old Style" panose="02050604050505020204" pitchFamily="18" charset="0"/>
                <a:cs typeface="Verdana"/>
              </a:rPr>
              <a:t>[3].</a:t>
            </a:r>
            <a:r>
              <a:rPr lang="en-US" dirty="0">
                <a:latin typeface="Bookman Old Style" panose="02050604050505020204" pitchFamily="18" charset="0"/>
                <a:ea typeface="Verdana" panose="020B0604030504040204" pitchFamily="34" charset="0"/>
              </a:rPr>
              <a:t>Gear Smiths Team (2025). </a:t>
            </a:r>
            <a:r>
              <a:rPr lang="en-US" i="1" dirty="0">
                <a:latin typeface="Bookman Old Style" panose="02050604050505020204" pitchFamily="18" charset="0"/>
                <a:ea typeface="Verdana" panose="020B0604030504040204" pitchFamily="34" charset="0"/>
              </a:rPr>
              <a:t>SIH2K25: Smart Tourist Safety Monitoring and Incident Response System.</a:t>
            </a:r>
            <a:r>
              <a:rPr lang="en-US" dirty="0">
                <a:latin typeface="Bookman Old Style" panose="02050604050505020204" pitchFamily="18" charset="0"/>
                <a:ea typeface="Verdana" panose="020B0604030504040204" pitchFamily="34" charset="0"/>
              </a:rPr>
              <a:t> Ministry of Tourism &amp; Home Affairs Presentation. [Focus: Real-time location tracking and admin dashboards].</a:t>
            </a:r>
            <a:endParaRPr dirty="0">
              <a:latin typeface="Bookman Old Style" panose="02050604050505020204" pitchFamily="18" charset="0"/>
              <a:ea typeface="Verdana" panose="020B0604030504040204" pitchFamily="34" charset="0"/>
              <a:cs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447800"/>
            <a:ext cx="9470390" cy="4753224"/>
          </a:xfrm>
          <a:prstGeom prst="rect">
            <a:avLst/>
          </a:prstGeom>
        </p:spPr>
        <p:txBody>
          <a:bodyPr vert="horz" wrap="square" lIns="0" tIns="15875" rIns="0" bIns="0" rtlCol="0">
            <a:spAutoFit/>
          </a:bodyPr>
          <a:lstStyle/>
          <a:p>
            <a:pPr marL="12700" marR="1871980">
              <a:lnSpc>
                <a:spcPct val="100000"/>
              </a:lnSpc>
              <a:spcBef>
                <a:spcPts val="125"/>
              </a:spcBef>
            </a:pPr>
            <a:r>
              <a:rPr dirty="0">
                <a:latin typeface="Verdana"/>
                <a:cs typeface="Verdana"/>
              </a:rPr>
              <a:t>[</a:t>
            </a:r>
            <a:r>
              <a:rPr lang="en-IN" dirty="0">
                <a:latin typeface="Verdana"/>
                <a:cs typeface="Verdana"/>
              </a:rPr>
              <a:t>4</a:t>
            </a:r>
            <a:r>
              <a:rPr dirty="0">
                <a:latin typeface="Verdana"/>
                <a:cs typeface="Verdana"/>
              </a:rPr>
              <a:t>].</a:t>
            </a:r>
            <a:r>
              <a:rPr lang="en-US" dirty="0"/>
              <a:t> D. S. Gamage and D. I. De Silva, “Blockchain–AI–Geolocation Integrated Architecture for Mobile Identity and Verification,” </a:t>
            </a:r>
            <a:r>
              <a:rPr lang="en-US" i="1" dirty="0"/>
              <a:t>Future Internet</a:t>
            </a:r>
            <a:r>
              <a:rPr lang="en-US" dirty="0"/>
              <a:t>, vol. 17, no. 12, pp. 1–18, 2025.</a:t>
            </a:r>
            <a:endParaRPr lang="en-IN" dirty="0">
              <a:latin typeface="Verdana" panose="020B0604030504040204" pitchFamily="34" charset="0"/>
              <a:ea typeface="Verdana" panose="020B0604030504040204" pitchFamily="34" charset="0"/>
            </a:endParaRP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5</a:t>
            </a:r>
            <a:r>
              <a:rPr dirty="0">
                <a:latin typeface="Bookman Old Style" panose="02050604050505020204" pitchFamily="18" charset="0"/>
                <a:cs typeface="Verdana"/>
              </a:rPr>
              <a:t>].</a:t>
            </a:r>
            <a:r>
              <a:rPr lang="en-US" b="1" dirty="0">
                <a:latin typeface="Bookman Old Style" panose="02050604050505020204" pitchFamily="18" charset="0"/>
              </a:rPr>
              <a:t> </a:t>
            </a:r>
            <a:r>
              <a:rPr lang="en-IN" dirty="0">
                <a:latin typeface="Bookman Old Style" panose="02050604050505020204" pitchFamily="18" charset="0"/>
              </a:rPr>
              <a:t>A. Kontogianni, E. </a:t>
            </a:r>
            <a:r>
              <a:rPr lang="en-IN" dirty="0" err="1">
                <a:latin typeface="Bookman Old Style" panose="02050604050505020204" pitchFamily="18" charset="0"/>
              </a:rPr>
              <a:t>Alepis</a:t>
            </a:r>
            <a:r>
              <a:rPr lang="en-IN" dirty="0">
                <a:latin typeface="Bookman Old Style" panose="02050604050505020204" pitchFamily="18" charset="0"/>
              </a:rPr>
              <a:t>, M. </a:t>
            </a:r>
            <a:r>
              <a:rPr lang="en-IN" dirty="0" err="1">
                <a:latin typeface="Bookman Old Style" panose="02050604050505020204" pitchFamily="18" charset="0"/>
              </a:rPr>
              <a:t>Virvou</a:t>
            </a:r>
            <a:r>
              <a:rPr lang="en-IN" dirty="0">
                <a:latin typeface="Bookman Old Style" panose="02050604050505020204" pitchFamily="18" charset="0"/>
              </a:rPr>
              <a:t>, and C. </a:t>
            </a:r>
            <a:r>
              <a:rPr lang="en-IN" dirty="0" err="1">
                <a:latin typeface="Bookman Old Style" panose="02050604050505020204" pitchFamily="18" charset="0"/>
              </a:rPr>
              <a:t>Patsakis</a:t>
            </a:r>
            <a:r>
              <a:rPr lang="en-IN" dirty="0">
                <a:latin typeface="Bookman Old Style" panose="02050604050505020204" pitchFamily="18" charset="0"/>
              </a:rPr>
              <a:t>, </a:t>
            </a:r>
            <a:r>
              <a:rPr lang="en-IN" i="1" dirty="0">
                <a:latin typeface="Bookman Old Style" panose="02050604050505020204" pitchFamily="18" charset="0"/>
              </a:rPr>
              <a:t>Smart Tourism: The Impact of Artificial Intelligence and Blockchain</a:t>
            </a:r>
            <a:r>
              <a:rPr lang="en-IN" dirty="0">
                <a:latin typeface="Bookman Old Style" panose="02050604050505020204" pitchFamily="18" charset="0"/>
              </a:rPr>
              <a:t>. Cham, Switzerland: Springer Nature, 2024.</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6</a:t>
            </a:r>
            <a:r>
              <a:rPr spc="-20" dirty="0">
                <a:latin typeface="Bookman Old Style" panose="02050604050505020204" pitchFamily="18" charset="0"/>
                <a:cs typeface="Verdana"/>
              </a:rPr>
              <a:t>].</a:t>
            </a:r>
            <a:r>
              <a:rPr lang="en-US" dirty="0">
                <a:latin typeface="Bookman Old Style" panose="02050604050505020204" pitchFamily="18" charset="0"/>
              </a:rPr>
              <a:t> “Geo-Fencing Technology to Establish Safety Zones,” </a:t>
            </a:r>
            <a:r>
              <a:rPr lang="en-US" i="1" dirty="0">
                <a:latin typeface="Bookman Old Style" panose="02050604050505020204" pitchFamily="18" charset="0"/>
              </a:rPr>
              <a:t>Journal of Emerging Technologies and Innovative Research (JETIR)</a:t>
            </a:r>
            <a:r>
              <a:rPr lang="en-US" dirty="0">
                <a:latin typeface="Bookman Old Style" panose="02050604050505020204" pitchFamily="18" charset="0"/>
              </a:rPr>
              <a:t>, vol. 12, no. 3, pp. 1–6, Mar. 2025.</a:t>
            </a:r>
          </a:p>
          <a:p>
            <a:pPr marL="12700" marR="1871980">
              <a:lnSpc>
                <a:spcPct val="100000"/>
              </a:lnSpc>
              <a:spcBef>
                <a:spcPts val="125"/>
              </a:spcBef>
            </a:pPr>
            <a:endParaRPr lang="en-US" sz="2000" dirty="0"/>
          </a:p>
          <a:p>
            <a:pPr marL="12700" marR="1871980">
              <a:lnSpc>
                <a:spcPct val="100000"/>
              </a:lnSpc>
              <a:spcBef>
                <a:spcPts val="125"/>
              </a:spcBef>
            </a:pPr>
            <a:r>
              <a:rPr lang="en-US" dirty="0">
                <a:latin typeface="Bookman Old Style" panose="02050604050505020204" pitchFamily="18" charset="0"/>
              </a:rPr>
              <a:t>[7]“Advancements in Digital Safety Technologies for Tourism,” </a:t>
            </a:r>
            <a:r>
              <a:rPr lang="en-US" i="1" dirty="0">
                <a:latin typeface="Bookman Old Style" panose="02050604050505020204" pitchFamily="18" charset="0"/>
              </a:rPr>
              <a:t>International Journal of Research and Innovation in Social Science (IJRISS)</a:t>
            </a:r>
            <a:r>
              <a:rPr lang="en-US" dirty="0">
                <a:latin typeface="Bookman Old Style" panose="02050604050505020204" pitchFamily="18" charset="0"/>
              </a:rPr>
              <a:t>, vol. 9, no. 14, pp. 1235–1262, 2025.</a:t>
            </a:r>
            <a:endParaRPr lang="en-US" dirty="0">
              <a:latin typeface="Bookman Old Style" panose="02050604050505020204" pitchFamily="18" charset="0"/>
              <a:ea typeface="Verdana" panose="020B0604030504040204" pitchFamily="34" charset="0"/>
              <a:cs typeface="Verdana"/>
            </a:endParaRP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25FC-9DB2-9F03-1D18-0B6C38E761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FB260B-840F-3873-5B0D-B22A453F17A9}"/>
              </a:ext>
            </a:extLst>
          </p:cNvPr>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a:extLst>
              <a:ext uri="{FF2B5EF4-FFF2-40B4-BE49-F238E27FC236}">
                <a16:creationId xmlns:a16="http://schemas.microsoft.com/office/drawing/2014/main" id="{D0AB11F2-855F-393F-C930-CAD4104C5312}"/>
              </a:ext>
            </a:extLst>
          </p:cNvPr>
          <p:cNvSpPr txBox="1"/>
          <p:nvPr/>
        </p:nvSpPr>
        <p:spPr>
          <a:xfrm>
            <a:off x="892175" y="1388377"/>
            <a:ext cx="9470390" cy="3742691"/>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8</a:t>
            </a:r>
            <a:r>
              <a:rPr dirty="0">
                <a:latin typeface="Bookman Old Style" panose="02050604050505020204" pitchFamily="18" charset="0"/>
                <a:cs typeface="Verdana"/>
              </a:rPr>
              <a:t>].</a:t>
            </a:r>
            <a:r>
              <a:rPr lang="en-US" dirty="0">
                <a:latin typeface="Bookman Old Style" panose="02050604050505020204" pitchFamily="18" charset="0"/>
              </a:rPr>
              <a:t> R. Islam, R. Bose, S. Roy, et al., “A Decentralized Trust Framework for Smart Cities,” </a:t>
            </a:r>
            <a:r>
              <a:rPr lang="en-US" i="1" dirty="0">
                <a:latin typeface="Bookman Old Style" panose="02050604050505020204" pitchFamily="18" charset="0"/>
              </a:rPr>
              <a:t>Scientific Reports</a:t>
            </a:r>
            <a:r>
              <a:rPr lang="en-US" dirty="0">
                <a:latin typeface="Bookman Old Style" panose="02050604050505020204" pitchFamily="18" charset="0"/>
              </a:rPr>
              <a:t>, vol. 15, no. 1, pp. 1–12, 2025.</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9</a:t>
            </a:r>
            <a:r>
              <a:rPr dirty="0">
                <a:latin typeface="Bookman Old Style" panose="02050604050505020204" pitchFamily="18" charset="0"/>
                <a:cs typeface="Verdana"/>
              </a:rPr>
              <a:t>].</a:t>
            </a:r>
            <a:r>
              <a:rPr lang="en-US" b="1" dirty="0">
                <a:latin typeface="Bookman Old Style" panose="02050604050505020204" pitchFamily="18" charset="0"/>
              </a:rPr>
              <a:t> </a:t>
            </a:r>
            <a:r>
              <a:rPr lang="en-US" dirty="0">
                <a:latin typeface="Bookman Old Style" panose="02050604050505020204" pitchFamily="18" charset="0"/>
              </a:rPr>
              <a:t>L. Peng and Y. Chen, “Tourism safety monitoring information service system based on Internet of Things and block-chain,” </a:t>
            </a:r>
            <a:r>
              <a:rPr lang="en-US" i="1" dirty="0">
                <a:latin typeface="Bookman Old Style" panose="02050604050505020204" pitchFamily="18" charset="0"/>
              </a:rPr>
              <a:t>Journal of Intelligent &amp; Fuzzy Systems</a:t>
            </a:r>
            <a:r>
              <a:rPr lang="en-US" dirty="0">
                <a:latin typeface="Bookman Old Style" panose="02050604050505020204" pitchFamily="18" charset="0"/>
              </a:rPr>
              <a:t>, June 2021.</a:t>
            </a:r>
          </a:p>
          <a:p>
            <a:pPr marL="12700" marR="1871980">
              <a:spcBef>
                <a:spcPts val="125"/>
              </a:spcBef>
            </a:pPr>
            <a:endParaRPr lang="en-US" dirty="0">
              <a:latin typeface="Bookman Old Style" panose="02050604050505020204" pitchFamily="18"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10</a:t>
            </a:r>
            <a:r>
              <a:rPr spc="-20" dirty="0">
                <a:latin typeface="Bookman Old Style" panose="02050604050505020204" pitchFamily="18" charset="0"/>
                <a:cs typeface="Verdana"/>
              </a:rPr>
              <a:t>].</a:t>
            </a:r>
            <a:r>
              <a:rPr lang="en-US" dirty="0">
                <a:latin typeface="Bookman Old Style" panose="02050604050505020204" pitchFamily="18" charset="0"/>
              </a:rPr>
              <a:t> U. Salunkhe, C. Kumar, and S. J. Khare, “Block Chain Intervention in the Tourism Industry: A Systematic Review,” </a:t>
            </a:r>
            <a:r>
              <a:rPr lang="en-US" i="1" dirty="0">
                <a:latin typeface="Bookman Old Style" panose="02050604050505020204" pitchFamily="18" charset="0"/>
              </a:rPr>
              <a:t>Academy of Marketing Studies Journal</a:t>
            </a:r>
            <a:r>
              <a:rPr lang="en-US" dirty="0">
                <a:latin typeface="Bookman Old Style" panose="02050604050505020204" pitchFamily="18" charset="0"/>
              </a:rPr>
              <a:t>, vol. 28, no. 2, pp. 1–9, 2024.</a:t>
            </a: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extLst>
      <p:ext uri="{BB962C8B-B14F-4D97-AF65-F5344CB8AC3E}">
        <p14:creationId xmlns:p14="http://schemas.microsoft.com/office/powerpoint/2010/main" val="1907802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6225" y="1438275"/>
            <a:ext cx="3886200" cy="39338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8633</TotalTime>
  <Words>1403</Words>
  <Application>Microsoft Office PowerPoint</Application>
  <PresentationFormat>Widescreen</PresentationFormat>
  <Paragraphs>124</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MT</vt:lpstr>
      <vt:lpstr>Bookman Old Style</vt:lpstr>
      <vt:lpstr>Calibri</vt:lpstr>
      <vt:lpstr>Cambria</vt:lpstr>
      <vt:lpstr>Lucida Fax</vt:lpstr>
      <vt:lpstr>Verdana</vt:lpstr>
      <vt:lpstr>Office Theme</vt:lpstr>
      <vt:lpstr>           Capstone Project  Review-4</vt:lpstr>
      <vt:lpstr>Problem Statement Number:</vt:lpstr>
      <vt:lpstr>Abstract : </vt:lpstr>
      <vt:lpstr>Literature Survey : </vt:lpstr>
      <vt:lpstr>Literature Survey : </vt:lpstr>
      <vt:lpstr>Literature Survey : </vt:lpstr>
      <vt:lpstr>Objectives : </vt:lpstr>
      <vt:lpstr>Existing Methods and Drawbacks : </vt:lpstr>
      <vt:lpstr>Proposed Method &amp; Feasibility Study : </vt:lpstr>
      <vt:lpstr>PowerPoint Presentation</vt:lpstr>
      <vt:lpstr>Modules : </vt:lpstr>
      <vt:lpstr>Hardware and Software Details : </vt:lpstr>
      <vt:lpstr>Timeline of the Project (Gantt Chart)</vt:lpstr>
      <vt:lpstr>Github Link</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Harshith K R</dc:creator>
  <cp:lastModifiedBy>T sai Reddy</cp:lastModifiedBy>
  <cp:revision>11</cp:revision>
  <dcterms:created xsi:type="dcterms:W3CDTF">2025-08-12T15:51:44Z</dcterms:created>
  <dcterms:modified xsi:type="dcterms:W3CDTF">2026-04-21T09:08:55Z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2025-08-12T00:00:00Z</vt:filetime>
  </property>
  <property fmtid="{D5CDD505-2E9C-101B-9397-08002B2CF9AE}" pid="3" name="LastSaved">
    <vt:filetime>2025-08-12T00:00:00Z</vt:filetime>
  </property>
</Properties>
</file>